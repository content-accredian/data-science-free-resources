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7" d="100"/>
          <a:sy n="87" d="100"/>
        </p:scale>
        <p:origin x="3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423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ccredian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ccredian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ccredian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ccredian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ccredian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ccredian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ccredian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ccredian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280160"/>
            <a:ext cx="4754880" cy="4754880"/>
          </a:xfrm>
          <a:prstGeom prst="ellipse">
            <a:avLst/>
          </a:prstGeom>
          <a:solidFill>
            <a:srgbClr val="1A2F52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-457200"/>
            <a:ext cx="2743200" cy="2743200"/>
          </a:xfrm>
          <a:prstGeom prst="ellipse">
            <a:avLst/>
          </a:prstGeom>
          <a:solidFill>
            <a:srgbClr val="243566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5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INNOVATION  ·  AI INFRASTRUCTURE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Data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195681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7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“Data Exhaustion” Crisis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3840480" cy="36576"/>
          </a:xfrm>
          <a:prstGeom prst="rect">
            <a:avLst/>
          </a:prstGeom>
          <a:solidFill>
            <a:srgbClr val="1E4A6E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4320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2026, we are running out of high-quality human data. The solution already exists — and it is AI-generated.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187952"/>
            <a:ext cx="9144000" cy="9555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793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Slides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5902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+ Evidence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4370832"/>
            <a:ext cx="27432" cy="594360"/>
          </a:xfrm>
          <a:prstGeom prst="rect">
            <a:avLst/>
          </a:prstGeom>
          <a:solidFill>
            <a:srgbClr val="1E3560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42793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Privacy-Safe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45902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· CCPA Compliant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4370832"/>
            <a:ext cx="27432" cy="594360"/>
          </a:xfrm>
          <a:prstGeom prst="rect">
            <a:avLst/>
          </a:prstGeom>
          <a:solidFill>
            <a:srgbClr val="1E3560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2793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45902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Decisions Today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826203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Accredian is a leading Indian institution specializing in AI, Data Science, and Management </a:t>
            </a:r>
            <a:r>
              <a:rPr lang="en-US" sz="850" dirty="0" err="1">
                <a:solidFill>
                  <a:srgbClr val="9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</a:t>
            </a:r>
            <a:r>
              <a:rPr lang="en-US" sz="850" dirty="0">
                <a:solidFill>
                  <a:srgbClr val="9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education.  •  Visit us at: </a:t>
            </a:r>
            <a:r>
              <a:rPr lang="en-US" sz="850" dirty="0">
                <a:solidFill>
                  <a:srgbClr val="9ABB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https://accredian.com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1920240" cy="246888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01 OF 07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49377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Crisis: We Are Running Out of Data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and AI systems have consumed nearly all available high-quality human-generated content. The next generation of models cannot simply train on more of the same.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536192"/>
            <a:ext cx="204825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536192"/>
            <a:ext cx="2048256" cy="621792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57276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~2026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231136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year human internet data is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consumed by AI models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" y="4114800"/>
            <a:ext cx="2048256" cy="164592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4123944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Epoch AI Research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496312" y="1536192"/>
            <a:ext cx="204825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6312" y="1536192"/>
            <a:ext cx="2048256" cy="621792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157276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606040" y="2231136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in new high-quality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human-written content available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496312" y="4114800"/>
            <a:ext cx="2048256" cy="164592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7752" y="4123944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Stanford AI Index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45152" y="1536192"/>
            <a:ext cx="204825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5152" y="1536192"/>
            <a:ext cx="2048256" cy="621792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157276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754880" y="2231136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of AI model parameters vs.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available training data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45152" y="4114800"/>
            <a:ext cx="2048256" cy="164592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4123944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OpenAI / DeepMind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793992" y="1536192"/>
            <a:ext cx="204825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93992" y="1536192"/>
            <a:ext cx="2048256" cy="621792"/>
          </a:xfrm>
          <a:prstGeom prst="rect">
            <a:avLst/>
          </a:prstGeom>
          <a:solidFill>
            <a:srgbClr val="C4881A"/>
          </a:solidFill>
          <a:ln w="12700">
            <a:solidFill>
              <a:srgbClr val="C488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3992" y="157276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$4.6B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903720" y="2231136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synthetic data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by 2028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793992" y="4114800"/>
            <a:ext cx="2048256" cy="164592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85432" y="4123944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MarketsandMarkets 2024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826203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Accredian is a leading Indian institution specializing in AI, Data Science, and Management research and education.  •  Visit us at: </a:t>
            </a:r>
            <a:r>
              <a:rPr lang="en-US" sz="850" dirty="0">
                <a:solidFill>
                  <a:srgbClr val="9ABB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https://accredian.com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8036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80360" y="0"/>
            <a:ext cx="50292" cy="5143500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37744"/>
            <a:ext cx="2423160" cy="237744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377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64008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28600" y="3246120"/>
            <a:ext cx="2432304" cy="1298448"/>
          </a:xfrm>
          <a:prstGeom prst="rect">
            <a:avLst/>
          </a:prstGeom>
          <a:solidFill>
            <a:srgbClr val="091525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328416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“Synthetic data is not fake data. It is mathematically derived data that preserves statistical properties of real data without exposing any real individual.”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54680" y="256032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Precise Definition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54680" y="694944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is algorithmically generated data that mirrors the statistical characteristics, distributions, and relationships of real-world datasets — without containing any actual personal records.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54680" y="128016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Generation Approaches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154680" y="1627632"/>
            <a:ext cx="5715000" cy="877824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627632"/>
            <a:ext cx="329184" cy="877824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627632"/>
            <a:ext cx="329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84448" y="1719072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Models (GANs, VAEs, Diffusion)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84448" y="1975104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learn patterns from real data and generate statistically equivalent synthetic records. Used for images, text, and tabular data.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2578608"/>
            <a:ext cx="5715000" cy="877824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2578608"/>
            <a:ext cx="329184" cy="877824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2578608"/>
            <a:ext cx="329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84448" y="2670048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&amp; Simulation Engines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84448" y="292608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 define rules and constraints; engines generate compliant data. Used in autonomous vehicle testing and medical simulation.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3529584"/>
            <a:ext cx="5715000" cy="877824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3529584"/>
            <a:ext cx="329184" cy="877824"/>
          </a:xfrm>
          <a:prstGeom prst="rect">
            <a:avLst/>
          </a:prstGeom>
          <a:solidFill>
            <a:srgbClr val="C4881A"/>
          </a:solidFill>
          <a:ln w="12700">
            <a:solidFill>
              <a:srgbClr val="C488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3529584"/>
            <a:ext cx="329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84448" y="3621024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&amp; Physics Simulations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584448" y="3877056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simulated environments generate ground-truth labelled data at scale. Used in robotics, logistics, and supply chain modelling.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26203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Accredian is a leading Indian institution specializing in AI, Data Science, and Management research and education.  •  Visit us at: </a:t>
            </a:r>
            <a:r>
              <a:rPr lang="en-US" sz="850" dirty="0">
                <a:solidFill>
                  <a:srgbClr val="9ABB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https://accredian.com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5029200" cy="5029200"/>
          </a:xfrm>
          <a:prstGeom prst="ellipse">
            <a:avLst/>
          </a:prstGeom>
          <a:solidFill>
            <a:srgbClr val="1A2F52"/>
          </a:solidFill>
          <a:ln w="12700">
            <a:solidFill>
              <a:srgbClr val="1A2F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920240" cy="246888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OF 07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Synthetic Data Outperforms Real 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5214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five critical dimensions, synthetic data offers structural advantages that real-world data cannot match.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2011680" cy="347472"/>
          </a:xfrm>
          <a:prstGeom prst="rect">
            <a:avLst/>
          </a:prstGeom>
          <a:solidFill>
            <a:srgbClr val="243566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3619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77440" y="1536192"/>
            <a:ext cx="3090672" cy="347472"/>
          </a:xfrm>
          <a:prstGeom prst="rect">
            <a:avLst/>
          </a:prstGeom>
          <a:solidFill>
            <a:srgbClr val="6B202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1536192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68112" y="1536192"/>
            <a:ext cx="3090672" cy="347472"/>
          </a:xfrm>
          <a:prstGeom prst="rect">
            <a:avLst/>
          </a:prstGeom>
          <a:solidFill>
            <a:srgbClr val="0A8A7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536192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1938528"/>
            <a:ext cx="2011680" cy="493776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99339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38528"/>
            <a:ext cx="3090672" cy="493776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199339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contains PII, subject to breach liability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68112" y="1938528"/>
            <a:ext cx="3090672" cy="493776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199339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D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no real individuals in the dataset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468880"/>
            <a:ext cx="2011680" cy="493776"/>
          </a:xfrm>
          <a:prstGeom prst="rect">
            <a:avLst/>
          </a:prstGeom>
          <a:solidFill>
            <a:srgbClr val="0A1A3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52374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77440" y="2468880"/>
            <a:ext cx="3090672" cy="493776"/>
          </a:xfrm>
          <a:prstGeom prst="rect">
            <a:avLst/>
          </a:prstGeom>
          <a:solidFill>
            <a:srgbClr val="0A1A3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87168" y="252374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— limited by what humans produce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68112" y="2468880"/>
            <a:ext cx="3090672" cy="493776"/>
          </a:xfrm>
          <a:prstGeom prst="rect">
            <a:avLst/>
          </a:prstGeom>
          <a:solidFill>
            <a:srgbClr val="0A1A3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252374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D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— generate as much as needed on demand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999232"/>
            <a:ext cx="2011680" cy="493776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05409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Accuracy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2999232"/>
            <a:ext cx="3090672" cy="493776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87168" y="3054096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— human annotation errors of 3–15%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68112" y="2999232"/>
            <a:ext cx="3090672" cy="493776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3054096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D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— ground truth is known by construction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529584"/>
            <a:ext cx="2011680" cy="493776"/>
          </a:xfrm>
          <a:prstGeom prst="rect">
            <a:avLst/>
          </a:prstGeom>
          <a:solidFill>
            <a:srgbClr val="0A1A3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58444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 Coverage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77440" y="3529584"/>
            <a:ext cx="3090672" cy="493776"/>
          </a:xfrm>
          <a:prstGeom prst="rect">
            <a:avLst/>
          </a:prstGeom>
          <a:solidFill>
            <a:srgbClr val="0A1A3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87168" y="358444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— dangerous scenarios are underrepresented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68112" y="3529584"/>
            <a:ext cx="3090672" cy="493776"/>
          </a:xfrm>
          <a:prstGeom prst="rect">
            <a:avLst/>
          </a:prstGeom>
          <a:solidFill>
            <a:srgbClr val="0A1A3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358444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D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Abundant — simulate any scenario at any frequency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059936"/>
            <a:ext cx="2011680" cy="493776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411480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4059936"/>
            <a:ext cx="3090672" cy="493776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87168" y="411480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GDPR/CCPA overhead is significant and ongoing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68112" y="4059936"/>
            <a:ext cx="3090672" cy="493776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411480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D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— compliant by design, audit-ready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0" y="4826203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Accredian is a leading Indian institution specializing in AI, Data Science, and Management research and education.  •  Visit us at: </a:t>
            </a:r>
            <a:r>
              <a:rPr lang="en-US" sz="850" dirty="0">
                <a:solidFill>
                  <a:srgbClr val="9ABB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https://accredian.com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8036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80360" y="0"/>
            <a:ext cx="50292" cy="5143500"/>
          </a:xfrm>
          <a:prstGeom prst="rect">
            <a:avLst/>
          </a:prstGeom>
          <a:solidFill>
            <a:srgbClr val="1A7A4E"/>
          </a:solidFill>
          <a:ln w="12700">
            <a:solidFill>
              <a:srgbClr val="1A7A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37744"/>
            <a:ext cx="2423160" cy="237744"/>
          </a:xfrm>
          <a:prstGeom prst="rect">
            <a:avLst/>
          </a:prstGeom>
          <a:solidFill>
            <a:srgbClr val="1A7A4E"/>
          </a:solidFill>
          <a:ln w="12700">
            <a:solidFill>
              <a:srgbClr val="1A7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377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64008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Privacy-Safe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Design: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GDPR &amp;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CCPA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28600" y="3246120"/>
            <a:ext cx="2432304" cy="1298448"/>
          </a:xfrm>
          <a:prstGeom prst="rect">
            <a:avLst/>
          </a:prstGeom>
          <a:solidFill>
            <a:srgbClr val="091525"/>
          </a:solidFill>
          <a:ln w="12700">
            <a:solidFill>
              <a:srgbClr val="1A7A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328416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“Synthetic data is not personal data under GDPR if it cannot be reverse-engineered to identify real individuals.”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54680" y="256032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Synthetic Data Solves the Privacy Problem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54680" y="694944"/>
            <a:ext cx="5715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regulations impose significant constraints on AI training pipelines. Synthetic data satisfies the intent of privacy law — protecting individuals — while removing the compliance burden that makes real-world data expensive to use.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1316736"/>
            <a:ext cx="279806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316736"/>
            <a:ext cx="2798064" cy="64008"/>
          </a:xfrm>
          <a:prstGeom prst="rect">
            <a:avLst/>
          </a:prstGeom>
          <a:solidFill>
            <a:srgbClr val="1A7A4E"/>
          </a:solidFill>
          <a:ln w="12700">
            <a:solidFill>
              <a:srgbClr val="1A7A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316736"/>
            <a:ext cx="64008" cy="1481328"/>
          </a:xfrm>
          <a:prstGeom prst="rect">
            <a:avLst/>
          </a:prstGeom>
          <a:solidFill>
            <a:srgbClr val="1A7A4E"/>
          </a:solidFill>
          <a:ln w="12700">
            <a:solidFill>
              <a:srgbClr val="1A7A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44475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PII, No Problem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19272" y="1755648"/>
            <a:ext cx="25237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records contain no real names, addresses, or identifiers. There is nothing to protect because no real person is represented.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62472" y="1316736"/>
            <a:ext cx="279806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62472" y="1316736"/>
            <a:ext cx="2798064" cy="64008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62472" y="1316736"/>
            <a:ext cx="64008" cy="1481328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44475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Erasure — Solved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27064" y="1755648"/>
            <a:ext cx="25237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GDPR’s ‘right to be forgotten’ cannot apply to data that never contained a real person. Retroactive deletion requests become irrelevant.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2907792"/>
            <a:ext cx="279806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907792"/>
            <a:ext cx="2798064" cy="64008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2907792"/>
            <a:ext cx="64008" cy="1481328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303580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Transfer Enabled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19272" y="3346704"/>
            <a:ext cx="25237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Restrictions on international data transfer under GDPR Chapter V do not apply to synthetic datasets, enabling global AI collaboration.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62472" y="2907792"/>
            <a:ext cx="279806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62472" y="2907792"/>
            <a:ext cx="2798064" cy="64008"/>
          </a:xfrm>
          <a:prstGeom prst="rect">
            <a:avLst/>
          </a:prstGeom>
          <a:solidFill>
            <a:srgbClr val="C4881A"/>
          </a:solidFill>
          <a:ln w="12700">
            <a:solidFill>
              <a:srgbClr val="C488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62472" y="2907792"/>
            <a:ext cx="64008" cy="1481328"/>
          </a:xfrm>
          <a:prstGeom prst="rect">
            <a:avLst/>
          </a:prstGeom>
          <a:solidFill>
            <a:srgbClr val="C4881A"/>
          </a:solidFill>
          <a:ln w="12700">
            <a:solidFill>
              <a:srgbClr val="C488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27064" y="303580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by Construction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27064" y="3346704"/>
            <a:ext cx="25237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pipelines produce generation logs — documenting what was generated and from which model — meeting GDPR and CCPA documentation requirements.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826203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Accredian is a leading Indian institution specializing in AI, Data Science, and Management research and education.  •  Visit us at: </a:t>
            </a:r>
            <a:r>
              <a:rPr lang="en-US" sz="850" dirty="0">
                <a:solidFill>
                  <a:srgbClr val="9ABB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https://accredian.com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1920240" cy="246888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OF 07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49377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Data in Action: Industry Applications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is already deployed at scale across regulated and data-scarce industries. These are production systems, not pilots.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2798064" cy="1481328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44752"/>
            <a:ext cx="2798064" cy="54864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44752"/>
            <a:ext cx="128016" cy="1481328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5361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" y="17922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patient records for drug trial modelling and diagnostic AI training — without exposing real patient data.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9496" y="2377440"/>
            <a:ext cx="2468880" cy="18288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24323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Clinic &amp; NHS: 40–60% reduction in data preparation time using synthetic EHR datasets.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46120" y="1444752"/>
            <a:ext cx="2798064" cy="1481328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444752"/>
            <a:ext cx="2798064" cy="54864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444752"/>
            <a:ext cx="128016" cy="14813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5576" y="15361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&amp; Insurance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65576" y="17922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transaction histories for fraud detection, stress testing, and credit scoring without sharing customer data across teams.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65576" y="2377440"/>
            <a:ext cx="2468880" cy="1828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65576" y="24323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Chase: 35% reduction in compliance review cycles using synthetic data for model validation.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1444752"/>
            <a:ext cx="2798064" cy="1481328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444752"/>
            <a:ext cx="2798064" cy="54864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444752"/>
            <a:ext cx="128016" cy="1481328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1656" y="15361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 &amp; Robotics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91656" y="17922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synthetic driving miles covering weather, lighting, and edge cases that real-world fleets cannot safely or cheaply capture.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91656" y="2377440"/>
            <a:ext cx="2468880" cy="18288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1656" y="24323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Waymo: 15M+ synthetic miles generated per day — equivalent to 30 years of real driving data.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035808"/>
            <a:ext cx="2798064" cy="1481328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035808"/>
            <a:ext cx="2798064" cy="54864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035808"/>
            <a:ext cx="128016" cy="1481328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" y="31272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Supply Chain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" y="3383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demand signals and inventory scenarios for supply chain resilience modelling and AI-driven replenishment systems.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9496" y="3968496"/>
            <a:ext cx="2468880" cy="18288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" y="4023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&amp; Unilever: use synthetic demand data to train inventory AI across 50+ countries simultaneously.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46120" y="3035808"/>
            <a:ext cx="2798064" cy="1481328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46120" y="3035808"/>
            <a:ext cx="2798064" cy="54864"/>
          </a:xfrm>
          <a:prstGeom prst="rect">
            <a:avLst/>
          </a:prstGeom>
          <a:solidFill>
            <a:srgbClr val="1A7A4E"/>
          </a:solidFill>
          <a:ln w="12700">
            <a:solidFill>
              <a:srgbClr val="1A7A4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3035808"/>
            <a:ext cx="128016" cy="1481328"/>
          </a:xfrm>
          <a:prstGeom prst="rect">
            <a:avLst/>
          </a:prstGeom>
          <a:solidFill>
            <a:srgbClr val="1A7A4E"/>
          </a:solidFill>
          <a:ln w="12700">
            <a:solidFill>
              <a:srgbClr val="1A7A4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65576" y="31272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Public Sector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65576" y="3383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census and benefits data for policy modelling — enabling analysis of interventions without exposing citizen records.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65576" y="3968496"/>
            <a:ext cx="2468880" cy="18288"/>
          </a:xfrm>
          <a:prstGeom prst="rect">
            <a:avLst/>
          </a:prstGeom>
          <a:solidFill>
            <a:srgbClr val="1A7A4E"/>
          </a:solidFill>
          <a:ln w="12700">
            <a:solidFill>
              <a:srgbClr val="1A7A4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65576" y="4023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ONS: released synthetic census datasets in 2023; 300+ research teams accessed within 90 days.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72200" y="3035808"/>
            <a:ext cx="2798064" cy="1481328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72200" y="3035808"/>
            <a:ext cx="2798064" cy="54864"/>
          </a:xfrm>
          <a:prstGeom prst="rect">
            <a:avLst/>
          </a:prstGeom>
          <a:solidFill>
            <a:srgbClr val="C4881A"/>
          </a:solidFill>
          <a:ln w="12700">
            <a:solidFill>
              <a:srgbClr val="C4881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3035808"/>
            <a:ext cx="128016" cy="1481328"/>
          </a:xfrm>
          <a:prstGeom prst="rect">
            <a:avLst/>
          </a:prstGeom>
          <a:solidFill>
            <a:srgbClr val="C4881A"/>
          </a:solidFill>
          <a:ln w="12700">
            <a:solidFill>
              <a:srgbClr val="C488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91656" y="31272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&amp; LLM Fine-Tuning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91656" y="3383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instruction-tuning datasets for enterprise LLMs that reflect company language without exposing proprietary documents.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91656" y="3968496"/>
            <a:ext cx="2468880" cy="18288"/>
          </a:xfrm>
          <a:prstGeom prst="rect">
            <a:avLst/>
          </a:prstGeom>
          <a:solidFill>
            <a:srgbClr val="C4881A"/>
          </a:solidFill>
          <a:ln w="12700">
            <a:solidFill>
              <a:srgbClr val="C488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91656" y="4023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48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companies: 3× faster model fine-tuning cycles reported using synthetic enterprise data.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4826203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Accredian is a leading Indian institution specializing in AI, Data Science, and Management research and education.  •  Visit us at: </a:t>
            </a:r>
            <a:r>
              <a:rPr lang="en-US" sz="8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https://accredian.com</a:t>
            </a:r>
            <a:endParaRPr lang="en-US" sz="85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1A2F52"/>
          </a:solidFill>
          <a:ln w="12700">
            <a:solidFill>
              <a:srgbClr val="1A2F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920240" cy="246888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OF 07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94941"/>
            <a:ext cx="852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of Synthetic Data — and How to Govern Them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is not risk-free. Responsible deployment requires understanding where it can fail and building governance accordingly.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17904"/>
            <a:ext cx="8412480" cy="713232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17904"/>
            <a:ext cx="182880" cy="713232"/>
          </a:xfrm>
          <a:prstGeom prst="rect">
            <a:avLst/>
          </a:prstGeom>
          <a:solidFill>
            <a:srgbClr val="E85050"/>
          </a:solidFill>
          <a:ln w="12700">
            <a:solidFill>
              <a:srgbClr val="E85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093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Amplification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8470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generator model trained on biased real data, synthetic outputs inherit and amplify those biases at scale.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54096" y="1664208"/>
            <a:ext cx="27432" cy="420624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5910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Mitigation: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0" y="18288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generator models for bias before deployment. Use standardised benchmarks on synthetic outputs.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8412480" cy="713232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04288"/>
            <a:ext cx="182880" cy="713232"/>
          </a:xfrm>
          <a:prstGeom prst="rect">
            <a:avLst/>
          </a:prstGeom>
          <a:solidFill>
            <a:srgbClr val="C4881A"/>
          </a:solidFill>
          <a:ln w="12700">
            <a:solidFill>
              <a:srgbClr val="C488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3957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Drift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26334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not matching real-world distributions causes production models to underperform after deployment.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54096" y="2450592"/>
            <a:ext cx="27432" cy="420624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377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8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Mitigation: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0" y="261518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synthetic data against real holdout sets. Monitor statistical divergence (KL divergence, Wasserstein).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090672"/>
            <a:ext cx="8412480" cy="713232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090672"/>
            <a:ext cx="182880" cy="713232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1821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Edge Cases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341985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 may produce statistically plausible but physically or contextually impossible scenarios.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54096" y="3236976"/>
            <a:ext cx="27432" cy="420624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1638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Mitigation: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00400" y="340156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domain expert review of generated distributions. Apply physics-based constraints in simulation pipelines.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877056"/>
            <a:ext cx="8412480" cy="713232"/>
          </a:xfrm>
          <a:prstGeom prst="rect">
            <a:avLst/>
          </a:prstGeom>
          <a:solidFill>
            <a:srgbClr val="0D1E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877056"/>
            <a:ext cx="182880" cy="713232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9684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Uncertainty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4206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jurisdictions have not definitively ruled whether synthetic data derived from personal data constitutes personal data.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054096" y="4023360"/>
            <a:ext cx="27432" cy="420624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9502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Mitigation: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00400" y="418795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provenance documentation. Engage Data Protection Officers before regulated sector deployment.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26203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Accredian is a leading Indian institution specializing in AI, Data Science, and Management research and education.  •  Visit us at: </a:t>
            </a:r>
            <a:r>
              <a:rPr lang="en-US" sz="8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https://accredian.com</a:t>
            </a:r>
            <a:endParaRPr lang="en-US" sz="85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1920240" cy="246888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OF 07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49377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Synthetic Data Implementation Roadmap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approach reduces risk and builds organisational confidence before enterprise-wide deployment.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2048256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389888"/>
            <a:ext cx="2048256" cy="475488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5910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&amp; Identify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231136"/>
            <a:ext cx="1828800" cy="27432"/>
          </a:xfrm>
          <a:prstGeom prst="rect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2414016"/>
            <a:ext cx="164592" cy="164592"/>
          </a:xfrm>
          <a:prstGeom prst="ellipse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4140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94944" y="2395728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all AI training data sources and their privacy risk levels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" y="2980944"/>
            <a:ext cx="164592" cy="164592"/>
          </a:xfrm>
          <a:prstGeom prst="ellipse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9809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4944" y="2962656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top 3 use cases most constrained by data volume or privacy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" y="3547872"/>
            <a:ext cx="164592" cy="164592"/>
          </a:xfrm>
          <a:prstGeom prst="ellipse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547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4944" y="3529584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current GDPR/CCPA compliance costs for real-world data pipelines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" y="4114800"/>
            <a:ext cx="164592" cy="164592"/>
          </a:xfrm>
          <a:prstGeom prst="ellipse">
            <a:avLst/>
          </a:prstGeom>
          <a:solidFill>
            <a:srgbClr val="0A8A7E"/>
          </a:solidFill>
          <a:ln w="12700">
            <a:solidFill>
              <a:srgbClr val="0A8A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1148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4944" y="4096512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Legal and DPO teams on synthetic data regulatory posture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96312" y="1389888"/>
            <a:ext cx="2048256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96312" y="1389888"/>
            <a:ext cx="2048256" cy="475488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1417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606040" y="15910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06040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Generation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606040" y="2231136"/>
            <a:ext cx="1828800" cy="27432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24328" y="2414016"/>
            <a:ext cx="164592" cy="164592"/>
          </a:xfrm>
          <a:prstGeom prst="ellipse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24328" y="24140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843784" y="2395728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one low-risk use case for the first synthetic data pilot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24328" y="2980944"/>
            <a:ext cx="164592" cy="164592"/>
          </a:xfrm>
          <a:prstGeom prst="ellipse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24328" y="29809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843784" y="2962656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or build a generation pipeline (tabular, text, or image)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24328" y="3547872"/>
            <a:ext cx="164592" cy="164592"/>
          </a:xfrm>
          <a:prstGeom prst="ellipse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24328" y="3547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843784" y="3529584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synthetic data fidelity against a real holdout test set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24328" y="4114800"/>
            <a:ext cx="164592" cy="164592"/>
          </a:xfrm>
          <a:prstGeom prst="ellipse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24328" y="41148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843784" y="4096512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generation provenance for audit readiness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45152" y="1389888"/>
            <a:ext cx="2048256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45152" y="1389888"/>
            <a:ext cx="2048256" cy="475488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1417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54880" y="15910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0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&amp; Validate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754880" y="2231136"/>
            <a:ext cx="1828800" cy="27432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73168" y="2414016"/>
            <a:ext cx="164592" cy="164592"/>
          </a:xfrm>
          <a:prstGeom prst="ellipse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24140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992624" y="2395728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target AI model on the synthetic dataset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73168" y="2980944"/>
            <a:ext cx="164592" cy="164592"/>
          </a:xfrm>
          <a:prstGeom prst="ellipse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73168" y="29809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992624" y="2962656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performance against model trained on real data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73168" y="3547872"/>
            <a:ext cx="164592" cy="164592"/>
          </a:xfrm>
          <a:prstGeom prst="ellipse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73168" y="3547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92624" y="3529584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bias audit on synthetic-trained model outputs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73168" y="4114800"/>
            <a:ext cx="164592" cy="164592"/>
          </a:xfrm>
          <a:prstGeom prst="ellipse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73168" y="41148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992624" y="4096512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results and compliance evidence to the governance board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793992" y="1389888"/>
            <a:ext cx="2048256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793992" y="1389888"/>
            <a:ext cx="2048256" cy="475488"/>
          </a:xfrm>
          <a:prstGeom prst="rect">
            <a:avLst/>
          </a:prstGeom>
          <a:solidFill>
            <a:srgbClr val="C4881A"/>
          </a:solidFill>
          <a:ln w="12700">
            <a:solidFill>
              <a:srgbClr val="C4881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03720" y="1417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903720" y="15910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7+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903720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Govern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6903720" y="2231136"/>
            <a:ext cx="1828800" cy="27432"/>
          </a:xfrm>
          <a:prstGeom prst="rect">
            <a:avLst/>
          </a:prstGeom>
          <a:solidFill>
            <a:srgbClr val="C4881A"/>
          </a:solidFill>
          <a:ln w="12700">
            <a:solidFill>
              <a:srgbClr val="C4881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22008" y="2414016"/>
            <a:ext cx="164592" cy="164592"/>
          </a:xfrm>
          <a:prstGeom prst="ellipse">
            <a:avLst/>
          </a:prstGeom>
          <a:solidFill>
            <a:srgbClr val="C4881A"/>
          </a:solidFill>
          <a:ln w="12700">
            <a:solidFill>
              <a:srgbClr val="C4881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22008" y="24140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141464" y="2395728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additional use cases and data modalities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922008" y="2980944"/>
            <a:ext cx="164592" cy="164592"/>
          </a:xfrm>
          <a:prstGeom prst="ellipse">
            <a:avLst/>
          </a:prstGeom>
          <a:solidFill>
            <a:srgbClr val="C4881A"/>
          </a:solidFill>
          <a:ln w="12700">
            <a:solidFill>
              <a:srgbClr val="C4881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22008" y="29809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141464" y="2962656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Synthetic Data Centre of Excellence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922008" y="3547872"/>
            <a:ext cx="164592" cy="164592"/>
          </a:xfrm>
          <a:prstGeom prst="ellipse">
            <a:avLst/>
          </a:prstGeom>
          <a:solidFill>
            <a:srgbClr val="C4881A"/>
          </a:solidFill>
          <a:ln w="12700">
            <a:solidFill>
              <a:srgbClr val="C4881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22008" y="3547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141464" y="3529584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synthetic data into the standard model development lifecycle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922008" y="4114800"/>
            <a:ext cx="164592" cy="164592"/>
          </a:xfrm>
          <a:prstGeom prst="ellipse">
            <a:avLst/>
          </a:prstGeom>
          <a:solidFill>
            <a:srgbClr val="C4881A"/>
          </a:solidFill>
          <a:ln w="12700">
            <a:solidFill>
              <a:srgbClr val="C4881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22008" y="41148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141464" y="4096512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quarterly review cadence for regulatory landscape monitoring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0" y="4826203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Accredian is a leading Indian institution specializing in AI, Data Science, and Management research and education.  •  Visit us at: </a:t>
            </a:r>
            <a:r>
              <a:rPr lang="en-US" sz="8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https://accredian.com</a:t>
            </a:r>
            <a:endParaRPr lang="en-US" sz="85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1516</Words>
  <Application>Microsoft Office PowerPoint</Application>
  <PresentationFormat>On-screen Show (16:9)</PresentationFormat>
  <Paragraphs>186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Data: Solving the Data Exhaustion Crisis</dc:title>
  <dc:subject>PptxGenJS Presentation</dc:subject>
  <dc:creator>PptxGenJS</dc:creator>
  <cp:lastModifiedBy>Anurag Sharma</cp:lastModifiedBy>
  <cp:revision>2</cp:revision>
  <dcterms:created xsi:type="dcterms:W3CDTF">2026-03-28T08:19:51Z</dcterms:created>
  <dcterms:modified xsi:type="dcterms:W3CDTF">2026-03-28T08:25:46Z</dcterms:modified>
</cp:coreProperties>
</file>