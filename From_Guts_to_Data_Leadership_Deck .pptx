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89ZfjWRGAGux2fIfSn+mELAD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538030" y="-1023990"/>
            <a:ext cx="3474600" cy="3474600"/>
          </a:xfrm>
          <a:prstGeom prst="ellipse">
            <a:avLst/>
          </a:prstGeom>
          <a:solidFill>
            <a:srgbClr val="243555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203050"/>
          </a:solidFill>
          <a:ln cap="flat" cmpd="sng" w="12700">
            <a:solidFill>
              <a:srgbClr val="34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1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DECISION INTELLIGENCE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13716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Guts to Data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04288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How Senior Leaders Make Better Decisions with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108960"/>
            <a:ext cx="3657600" cy="36576"/>
          </a:xfrm>
          <a:prstGeom prst="rect">
            <a:avLst/>
          </a:prstGeom>
          <a:solidFill>
            <a:srgbClr val="2E4A6A"/>
          </a:solidFill>
          <a:ln cap="flat" cmpd="sng" w="12700">
            <a:solidFill>
              <a:srgbClr val="2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2918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The practical shift from intuition-led to evidence-augmented decision-making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16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43159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 Slides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360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AB8"/>
                </a:solidFill>
                <a:latin typeface="Calibri"/>
                <a:ea typeface="Calibri"/>
                <a:cs typeface="Calibri"/>
                <a:sym typeface="Calibri"/>
              </a:rPr>
              <a:t>Framework + Exercises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91840" y="4407408"/>
            <a:ext cx="27432" cy="594360"/>
          </a:xfrm>
          <a:prstGeom prst="rect">
            <a:avLst/>
          </a:prstGeom>
          <a:solidFill>
            <a:srgbClr val="2E4A6A"/>
          </a:solidFill>
          <a:ln cap="flat" cmpd="sng" w="12700">
            <a:solidFill>
              <a:srgbClr val="2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429000" y="43159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Senior Level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29000" y="46360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AB8"/>
                </a:solidFill>
                <a:latin typeface="Calibri"/>
                <a:ea typeface="Calibri"/>
                <a:cs typeface="Calibri"/>
                <a:sym typeface="Calibri"/>
              </a:rPr>
              <a:t>No Technical Background 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263640" y="4407408"/>
            <a:ext cx="27432" cy="594360"/>
          </a:xfrm>
          <a:prstGeom prst="rect">
            <a:avLst/>
          </a:prstGeom>
          <a:solidFill>
            <a:srgbClr val="2E4A6A"/>
          </a:solidFill>
          <a:ln cap="flat" cmpd="sng" w="12700">
            <a:solidFill>
              <a:srgbClr val="2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400800" y="43159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Actionable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0" y="46360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AB8"/>
                </a:solidFill>
                <a:latin typeface="Calibri"/>
                <a:ea typeface="Calibri"/>
                <a:cs typeface="Calibri"/>
                <a:sym typeface="Calibri"/>
              </a:rPr>
              <a:t>Tools You Can Use Tomorrow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926080" y="0"/>
            <a:ext cx="45720" cy="514350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01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6032" y="658368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Intuition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Still Matters—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Where 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Breaks Down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56032" y="3200400"/>
            <a:ext cx="2423160" cy="1325880"/>
          </a:xfrm>
          <a:prstGeom prst="rect">
            <a:avLst/>
          </a:prstGeom>
          <a:solidFill>
            <a:srgbClr val="152033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47472" y="32918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“Leaders who rely solely on gut instinct make consistent, predictable errors— and AI makes those errors visible.”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0" y="27432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The Truth About Senior Intuition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0" y="804672"/>
            <a:ext cx="5623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Experience-based intuition is a genuine asset — decades of pattern recognition, context reading, and rapid synthesis. AI doesn't replace it. But three conditions consistently break 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0" y="1572768"/>
            <a:ext cx="56235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200400" y="1572768"/>
            <a:ext cx="201168" cy="91440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520440" y="16642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Volume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520440" y="1920240"/>
            <a:ext cx="5166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number of variables exceeds what working memory can hold, pattern recognition degrades — even for experts with 20+ years of experience.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00400" y="2624328"/>
            <a:ext cx="56235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00400" y="2624328"/>
            <a:ext cx="201168" cy="91440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520440" y="271576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Confirmation Bias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520440" y="2971800"/>
            <a:ext cx="5166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more experienced the leader, the more confident the bias. Intuition selects evidence that confirms existing mental models, filtering out contradictory signals.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0" y="3675888"/>
            <a:ext cx="56235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00400" y="3675888"/>
            <a:ext cx="201168" cy="914400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520440" y="376732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Decision Velocity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520440" y="4023360"/>
            <a:ext cx="5166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 high-stakes, time-pressured situations, intuition reaches for the last pattern that worked — not necessarily the one that fits the current context.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875"/>
              <a:buFont typeface="Calibri"/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182880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65760" y="18288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02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What AI Can See That You Can't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doesn't think faster — it sees differently. These four capabilities are genuinely complementary to senior leadership judgment.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16276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1627632"/>
            <a:ext cx="4206240" cy="6400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566160" y="1792224"/>
            <a:ext cx="868680" cy="50292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584448" y="17647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10,000×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29000" y="20299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more variables processed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7922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Pattern Recognition Across Scale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21396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processes millions of data points simultaneously — customer signals, market shifts, operational anomalies — that no human team could review in the same timeframe.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00600" y="16276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800600" y="1627632"/>
            <a:ext cx="4206240" cy="6400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001000" y="1792224"/>
            <a:ext cx="868680" cy="50292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019288" y="17647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4–8 wks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863840" y="20299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earlier signal detection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983480" y="17922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Predictive Signals Before They Emerge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983480" y="21396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identifies leading indicators — the subtle correlations that precede outcomes by weeks or months — before they become visible in executive dashboards.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32278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65760" y="3227832"/>
            <a:ext cx="4206240" cy="6400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566160" y="3392424"/>
            <a:ext cx="868680" cy="502920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584448" y="33649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429000" y="3630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 across all cases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33924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Unbiased Historical Comparison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37398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applies the same analytical lens to every scenario, without recency bias, availability heuristics, or anchoring. It will tell you what the data says, not what you want to hear.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00600" y="32278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800600" y="3227832"/>
            <a:ext cx="4206240" cy="64008"/>
          </a:xfrm>
          <a:prstGeom prst="rect">
            <a:avLst/>
          </a:prstGeom>
          <a:solidFill>
            <a:srgbClr val="243555"/>
          </a:solidFill>
          <a:ln cap="flat" cmpd="sng" w="12700">
            <a:solidFill>
              <a:srgbClr val="243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001000" y="3392424"/>
            <a:ext cx="868680" cy="502920"/>
          </a:xfrm>
          <a:prstGeom prst="rect">
            <a:avLst/>
          </a:prstGeom>
          <a:solidFill>
            <a:srgbClr val="243555"/>
          </a:solidFill>
          <a:ln cap="flat" cmpd="sng" w="12700">
            <a:solidFill>
              <a:srgbClr val="243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019288" y="33649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12–50×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863840" y="3630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more scenarios evaluated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983480" y="33924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Scenario Modelling at Speed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83480" y="37398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Instead of 2–3 options evaluated in a committee, AI can stress-test dozens of scenarios against your constraints before the first meeting starts.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5943600" y="2926080"/>
            <a:ext cx="4572000" cy="4572000"/>
          </a:xfrm>
          <a:prstGeom prst="ellipse">
            <a:avLst/>
          </a:prstGeom>
          <a:solidFill>
            <a:srgbClr val="1E3255"/>
          </a:solidFill>
          <a:ln cap="flat" cmpd="sng" w="12700">
            <a:solidFill>
              <a:srgbClr val="1E3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243366"/>
          </a:solidFill>
          <a:ln cap="flat" cmpd="sng" w="12700">
            <a:solidFill>
              <a:srgbClr val="24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03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54864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Decision Audit: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1042416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2600"/>
              <a:buFont typeface="Georgia"/>
              <a:buNone/>
            </a:pPr>
            <a:r>
              <a:rPr i="1" lang="en-US" sz="2600">
                <a:solidFill>
                  <a:srgbClr val="7AAAC8"/>
                </a:solidFill>
                <a:latin typeface="Georgia"/>
                <a:ea typeface="Georgia"/>
                <a:cs typeface="Georgia"/>
                <a:sym typeface="Georgia"/>
              </a:rPr>
              <a:t>Where Are You Flying Blind?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157276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 diagnostic exercise: map your top 5 recurring decisions against these two dimensions.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2057400"/>
            <a:ext cx="4160520" cy="41148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65760" y="205740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High Stakes + Low Data =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AI Priority Zone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248716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02920" y="253288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entry / exit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27249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Low data → AI maps competitive signals, macro trends, analogous cases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5760" y="308152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02920" y="31272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 acquisition at senior level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" y="33192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Intuition dominates → AI benchmarks compensation, tenure risk, culture fit proxies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65760" y="367588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02920" y="37216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Capital allocation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" y="39136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Recency bias risk → AI stress-tests against historical cycles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427024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02920" y="43159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response under pressure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" y="450799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Speed breaks intuition → AI pre-runs scenarios before the room convenes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00600" y="2057400"/>
            <a:ext cx="4160520" cy="41148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800600" y="205740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AI Already Helping Here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(Often Unnoticed)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00600" y="248716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937760" y="253288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forecasting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937760" y="27249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CRM AI is augmenting judgment — but is leadership reading the confidence intervals?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00600" y="308152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937760" y="31272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937760" y="33192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Revenue management AI runs continuously — does leadership review its assumptions?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00600" y="367588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937760" y="37216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Hiring funnel filtering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937760" y="39136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Screening AI is making first-pass cuts — do you know what it's optimising for?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800600" y="427024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937760" y="43159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churn prediction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937760" y="450799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Your CS platform flags risk — how often does leadership act on the signal vs. gut?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65760" y="128016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65760" y="12801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04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286000" y="91440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 Decision Types &amp; How AI Changes Each One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Not all decisions benefit from AI equally. Matching the tool to the decision type is the senior leader's core skill.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2004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20040" y="1115568"/>
            <a:ext cx="2651760" cy="65836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57200" y="11612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13350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Reversible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Routine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1865376"/>
            <a:ext cx="2377440" cy="237744"/>
          </a:xfrm>
          <a:prstGeom prst="rect">
            <a:avLst/>
          </a:prstGeom>
          <a:solidFill>
            <a:srgbClr val="E0F4F6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5720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Automate or delegate to AI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2176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57200" y="235915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Scheduling, standard approvals, routine procurement, repetitive analysis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283464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AI does: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3017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handles end-to-end — leadership sets policy and reviews exceptions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" y="349300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57200" y="36758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Define the decision rules; review anomalies only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Key risk: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433425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Under-delegating — wasting leadership bandwidth on decisions AI handles better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15468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154680" y="1115568"/>
            <a:ext cx="2651760" cy="65836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291840" y="11612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91840" y="13350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Structured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High-Stakes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291840" y="1865376"/>
            <a:ext cx="2377440" cy="237744"/>
          </a:xfrm>
          <a:prstGeom prst="rect">
            <a:avLst/>
          </a:prstGeom>
          <a:solidFill>
            <a:srgbClr val="FDEEE9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29184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AI informs, leader decides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291840" y="2176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91840" y="235915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Pricing strategy, hiring senior roles, capital allocation, vendor selection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91840" y="283464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AI does: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291840" y="3017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Surfaces options, stress-tests assumptions, quantifies risk — but doesn't choose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291840" y="349300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291840" y="36758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Interrogate the AI output; make the call with augmented information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291840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Key risk: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291840" y="433425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Rubber-stamping AI recommendations without exercising independent judgment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98932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989320" y="1115568"/>
            <a:ext cx="2651760" cy="65836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126480" y="11612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126480" y="13350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Ambiguous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Novel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126480" y="1865376"/>
            <a:ext cx="2377440" cy="237744"/>
          </a:xfrm>
          <a:prstGeom prst="rect">
            <a:avLst/>
          </a:prstGeom>
          <a:solidFill>
            <a:srgbClr val="FDF4E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12648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Leader leads, AI assists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126480" y="2176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126480" y="235915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Strategic pivots, culture decisions, crisis response, stakeholder negotiations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126480" y="283464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AI does: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126480" y="3017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Provides analogous cases, scenario modelling, risk framing — context only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126480" y="349300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126480" y="36758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output is one input among many; final judgment is irreducibly human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126480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Key risk: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126480" y="433425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Over-relying on AI in situations that require contextual wisdom AI cannot have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108960" y="0"/>
            <a:ext cx="54864" cy="514350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28600" y="256032"/>
            <a:ext cx="26517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228600" y="25603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05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56032" y="658368"/>
            <a:ext cx="2606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Cognitive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Biases AI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Exposes 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Leadership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Decisions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56032" y="3310128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Self-awareness is the first step.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AI makes these patterns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legible for the first time.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337560" y="228600"/>
            <a:ext cx="5532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The 5 Biases Most Common in Senior Decision-Making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337560" y="694944"/>
            <a:ext cx="5532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These are not character flaws — they are cognitive features. AI exposes them by doing something leaders cannot: applying identical logic to every data point, every time.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337560" y="1207008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337560" y="1207008"/>
            <a:ext cx="164592" cy="65836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3611880" y="1271016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Confirmation Bias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611880" y="149047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Seeking information that confirms what you already believe. AI surfaces the contradictory evidence you would naturally overlook.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337560" y="1956816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337560" y="1956816"/>
            <a:ext cx="164592" cy="65836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611880" y="2020824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Availability Heuristic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11880" y="224028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Overweighting the most recent or memorable event. AI weights all historical data equally — it has no recency bias.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337560" y="2706624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337560" y="2706624"/>
            <a:ext cx="164592" cy="65836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611880" y="2770632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Anchoring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611880" y="299008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Over-relying on the first number or option presented. AI starts from distributional averages, not from your opening position.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337560" y="3456432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337560" y="3456432"/>
            <a:ext cx="164592" cy="658368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611880" y="352044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Overconfidence Effect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611880" y="3739896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Senior leaders are statistically overconfident in their predictions. AI provides probability distributions, not point predictions.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337560" y="4206240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337560" y="4206240"/>
            <a:ext cx="164592" cy="658368"/>
          </a:xfrm>
          <a:prstGeom prst="rect">
            <a:avLst/>
          </a:prstGeom>
          <a:solidFill>
            <a:srgbClr val="1A7A5E"/>
          </a:solidFill>
          <a:ln cap="flat" cmpd="sng" w="12700">
            <a:solidFill>
              <a:srgbClr val="1A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3611880" y="4270248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Sunk Cost Fallacy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611880" y="4489704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Continuing a failing course because of past investment. AI optimises from current state forward — it has no emotional stake in sunk costs.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65760" y="164592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65760" y="164592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06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5760" y="49377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Your 30-Day Decision Intelligence Sprint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Three concrete actions to shift from intuition-default to evidence-augmented.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5760" y="1426464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65760" y="1426464"/>
            <a:ext cx="2697480" cy="47548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502920" y="14630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02920" y="1627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Run a Decision Audit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30352" y="2057400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30352" y="2057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22960" y="20391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List your 10 most frequent decisions in the last 90 days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30352" y="2734056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30352" y="27340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22960" y="27157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Categorise each as Type 1, 2, or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30352" y="3410712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530352" y="34107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822960" y="3392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Identify where data exists but you haven't been consulting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30352" y="4087368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30352" y="4087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22960" y="4069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Mark 3 decisions where bias risk is highest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18688" y="1426464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218688" y="1426464"/>
            <a:ext cx="2697480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355848" y="14630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355848" y="1627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Pick One Decision to Augment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383280" y="2057400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3383280" y="2057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675888" y="20391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Choose one recurring Type 2 decision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383280" y="2734056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383280" y="27340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675888" y="27157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Ask your analytics team: what data should inform this?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383280" y="3410712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383280" y="34107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675888" y="3392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Receive a simple AI-assisted view before your next instance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383280" y="4087368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3383280" y="4087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675888" y="4069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Run it in parallel with your normal process — compare outputs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071616" y="1426464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071616" y="1426464"/>
            <a:ext cx="2697480" cy="47548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208776" y="14630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208776" y="1627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Build the Leadership Practice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236208" y="2057400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6236208" y="2057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528816" y="20391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Define your 3 standing questions you will always ask of AI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236208" y="2734056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236208" y="27340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528816" y="27157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Share your bias inventory with your direct reports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236208" y="3410712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236208" y="34107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528816" y="3392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Set a quarterly decision retrospective in your calendar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236208" y="4087368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6236208" y="4087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528816" y="4069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Identify one report to own the AI-decision integration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16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029200" y="0"/>
            <a:ext cx="36576" cy="514350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07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65760" y="5486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 Lines: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65760" y="1024128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2200"/>
              <a:buFont typeface="Georgia"/>
              <a:buNone/>
            </a:pPr>
            <a:r>
              <a:rPr i="1" lang="en-US" sz="2200">
                <a:solidFill>
                  <a:srgbClr val="7AAAC8"/>
                </a:solidFill>
                <a:latin typeface="Georgia"/>
                <a:ea typeface="Georgia"/>
                <a:cs typeface="Georgia"/>
                <a:sym typeface="Georgia"/>
              </a:rPr>
              <a:t>When Not to Let AI Decide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65760" y="1508760"/>
            <a:ext cx="4480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AI augments judgment. It does not replace it. These five domains require irreducibly human leadership.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65760" y="2011680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30352" y="2039112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Values &amp; Culture Decisions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30352" y="2267712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What the organisation stands for cannot be optimised.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65760" y="2578608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530352" y="2606040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Accountability Under Pressure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30352" y="283464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When the stakes are high, a human must own the outcome.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65760" y="3145536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30352" y="3172968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Trust-Dependent Relationships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30352" y="3401568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Stakeholder trust requires human judgment and presence.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65760" y="3712464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530352" y="3739896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Novel Ethical Dilemmas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30352" y="3968496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AI has no moral framework — it reflects the data it was given.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65760" y="4279392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30352" y="4306824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Communication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30352" y="4535424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Authenticity, empathy, and context are not computable.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257800" y="5029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Defining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Shift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257800" y="1389888"/>
            <a:ext cx="3566160" cy="36576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257800" y="1517904"/>
            <a:ext cx="3566160" cy="1060704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5413248" y="160934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From asking: What should I do?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413248" y="1883664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 asking: What does the evidence suggest — and what am I bringing that the evidence can't?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257800" y="2670048"/>
            <a:ext cx="3566160" cy="1060704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5413248" y="2761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From defending decisions with authority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413248" y="3035808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 defending decisions with both authority and evidence.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257800" y="3822192"/>
            <a:ext cx="3566160" cy="1060704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5413248" y="391363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From treating AI as a threat to judgment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13248" y="4187952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 treating AI as the thing that makes your judgment more valuable.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2026-03-22T04:45:29Z</dcterms:created>
  <dc:creator>PptxGenJS</dc:creator>
</cp:coreProperties>
</file>