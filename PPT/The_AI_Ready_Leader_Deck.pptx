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7" d="100"/>
          <a:sy n="87" d="100"/>
        </p:scale>
        <p:origin x="6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205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3840480" cy="3840480"/>
          </a:xfrm>
          <a:prstGeom prst="ellipse">
            <a:avLst/>
          </a:prstGeom>
          <a:solidFill>
            <a:srgbClr val="24355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-457200"/>
            <a:ext cx="2468880" cy="2468880"/>
          </a:xfrm>
          <a:prstGeom prst="ellipse">
            <a:avLst/>
          </a:prstGeom>
          <a:solidFill>
            <a:srgbClr val="203050"/>
          </a:solidFill>
          <a:ln w="12700">
            <a:solidFill>
              <a:srgbClr val="344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LEADERSHIP FRAMEWORK  ·  EXECUTIVE SERIES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AI-Ready Leader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23113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Senior Executives Actually Need to Know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457200" y="2944368"/>
            <a:ext cx="3657600" cy="36576"/>
          </a:xfrm>
          <a:prstGeom prst="rect">
            <a:avLst/>
          </a:prstGeom>
          <a:solidFill>
            <a:srgbClr val="2E4A6A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272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through the noise — a practical framework for leading in an AI-transformed organisation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97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Slides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+ Exercises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4407408"/>
            <a:ext cx="27432" cy="594360"/>
          </a:xfrm>
          <a:prstGeom prst="rect">
            <a:avLst/>
          </a:prstGeom>
          <a:solidFill>
            <a:srgbClr val="2E4A6A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4297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Jargon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4617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Background Required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4407408"/>
            <a:ext cx="27432" cy="594360"/>
          </a:xfrm>
          <a:prstGeom prst="rect">
            <a:avLst/>
          </a:prstGeom>
          <a:solidFill>
            <a:srgbClr val="2E4A6A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297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4617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Tools for Day One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45720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2468880" cy="2377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01 OF 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2468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Most AI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Literacy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 Leaders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3200400"/>
            <a:ext cx="2423160" cy="1325880"/>
          </a:xfrm>
          <a:prstGeom prst="rect">
            <a:avLst/>
          </a:prstGeom>
          <a:solidFill>
            <a:srgbClr val="152033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problem isn’t that leaders don’t know enough about AI. It’s that they know the wrong things.”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27432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Problem with AI Literacy Training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200400" y="786384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literacy programs teach leaders how models work. That’s the wrong starting point. What leaders actually need is a framework for the decisions AI creates — not a course on the technology behind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5623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508760"/>
            <a:ext cx="5623560" cy="54864"/>
          </a:xfrm>
          <a:prstGeom prst="rect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636776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Teach Technology, Not Judgment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64992" y="1911096"/>
            <a:ext cx="53858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transformers and neural nets to a CFO doesn’t help them decide when to trust an AI output and when to override it. That’s a judgment skill, not a technical one.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2560320"/>
            <a:ext cx="5623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560320"/>
            <a:ext cx="5623560" cy="548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2688336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Treat AI as a Static Subject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64992" y="2962656"/>
            <a:ext cx="53858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 change every 6–12 months. A one-time training event creates false confidence. Leaders need a decision framework that stays valid regardless of which tool is current.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3611880"/>
            <a:ext cx="5623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3611880"/>
            <a:ext cx="5623560" cy="54864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3739896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Ignore the Org-Level Consequence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64992" y="4014216"/>
            <a:ext cx="53858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AI literacy without organisational infrastructure — governance, data quality, clear accountability — produces well-informed leaders who can’t act on what they know.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85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828800" cy="2377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OF 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 Things Every Senior Leader Must Understand About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technology. The implications. These four concepts change how you lead, decide, and govern — regardless of your technical background.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00784"/>
            <a:ext cx="420624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00784"/>
            <a:ext cx="420624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837944"/>
            <a:ext cx="91440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182880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08483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leaders treat AI output as fact (McKinsey)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30352" y="186537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Outputs Are Probabilities, Not Answers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19456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output is a probability distribution, not a fact. Leaders who treat AI outputs as authoritative answers will be confidently wrong. The skill is calibrated trust — knowing when the probability is high enough to act 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700784"/>
            <a:ext cx="420624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700784"/>
            <a:ext cx="420624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837944"/>
            <a:ext cx="914400" cy="5120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3568" y="182880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18120" y="208483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gap between data-mature and data-poor orgs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965192" y="186537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the Strategy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5192" y="219456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your AI is a direct function of the quality and breadth of your data. Leaders who treat data as an IT resource rather than a strategic asset systematically cap the ceiling of their AI capability.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28416"/>
            <a:ext cx="420624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328416"/>
            <a:ext cx="4206240" cy="64008"/>
          </a:xfrm>
          <a:prstGeom prst="rect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3465576"/>
            <a:ext cx="914400" cy="512064"/>
          </a:xfrm>
          <a:prstGeom prst="rect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8728" y="3456432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$4.5M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83280" y="371246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of an AI-related incident (IBM, 2024)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30352" y="349300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Shifts Risk, It Doesn’t Remove 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3822192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doesn’t eliminate the risk of bad decisions — it redistributes it. Poorly governed AI creates new risk: bias at scale, explainability gaps, and liability exposure that manual processes never had.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328416"/>
            <a:ext cx="420624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328416"/>
            <a:ext cx="4206240" cy="64008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3465576"/>
            <a:ext cx="914400" cy="512064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3456432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818120" y="371246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 cycles in AI-native organisations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965192" y="349300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the Point — and the Danger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65192" y="3822192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AI’s primary value is compression of decision cycles. But faster decisions compound errors as fast as they compound advantages. Governance structures must scale with decision velocity.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743200"/>
            <a:ext cx="4572000" cy="4572000"/>
          </a:xfrm>
          <a:prstGeom prst="ellipse">
            <a:avLst/>
          </a:prstGeom>
          <a:solidFill>
            <a:srgbClr val="1E3255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645920"/>
            <a:ext cx="2743200" cy="2743200"/>
          </a:xfrm>
          <a:prstGeom prst="ellipse">
            <a:avLst/>
          </a:prstGeom>
          <a:solidFill>
            <a:srgbClr val="243366"/>
          </a:solidFill>
          <a:ln w="12700">
            <a:solidFill>
              <a:srgbClr val="24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828800" cy="2377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OF 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Decisions vs. AI-Assisted Decisions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7AAA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the Line That Protects the Organisation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important governance decision a senior leader makes. The line is not technical — it is strategic and ethical.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4160520" cy="384048"/>
          </a:xfrm>
          <a:prstGeom prst="rect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41605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Makes the Decision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41605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sets policy; AI executes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4160520" cy="402336"/>
          </a:xfrm>
          <a:prstGeom prst="rect">
            <a:avLst/>
          </a:prstGeom>
          <a:solidFill>
            <a:srgbClr val="162238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7980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under defined thresholds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45536"/>
            <a:ext cx="4160520" cy="402336"/>
          </a:xfrm>
          <a:prstGeom prst="rect">
            <a:avLst/>
          </a:prstGeom>
          <a:solidFill>
            <a:srgbClr val="1A2A42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236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fraud detection flags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4160520" cy="402336"/>
          </a:xfrm>
          <a:prstGeom prst="rect">
            <a:avLst/>
          </a:prstGeom>
          <a:solidFill>
            <a:srgbClr val="162238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675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reorder within approved parameters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4160520" cy="402336"/>
          </a:xfrm>
          <a:prstGeom prst="rect">
            <a:avLst/>
          </a:prstGeom>
          <a:solidFill>
            <a:srgbClr val="1A2A42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4114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routing and triage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462272"/>
            <a:ext cx="4160520" cy="256032"/>
          </a:xfrm>
          <a:prstGeom prst="rect">
            <a:avLst/>
          </a:prstGeom>
          <a:solidFill>
            <a:srgbClr val="0D1E32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622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Risk: Policy errors scale instantly. Governance must be set before deployment, not after.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1993392"/>
            <a:ext cx="4160520" cy="38404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993392"/>
            <a:ext cx="41605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Informs the Decision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00600" y="2395728"/>
            <a:ext cx="41605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options; human chooses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706624"/>
            <a:ext cx="4160520" cy="402336"/>
          </a:xfrm>
          <a:prstGeom prst="rect">
            <a:avLst/>
          </a:prstGeom>
          <a:solidFill>
            <a:srgbClr val="162238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7980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 with market modelling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145536"/>
            <a:ext cx="4160520" cy="402336"/>
          </a:xfrm>
          <a:prstGeom prst="rect">
            <a:avLst/>
          </a:prstGeom>
          <a:solidFill>
            <a:srgbClr val="1A2A42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3236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 for senior roles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584448"/>
            <a:ext cx="4160520" cy="402336"/>
          </a:xfrm>
          <a:prstGeom prst="rect">
            <a:avLst/>
          </a:prstGeom>
          <a:solidFill>
            <a:srgbClr val="162238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3675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 with scenario analysis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4023360"/>
            <a:ext cx="4160520" cy="402336"/>
          </a:xfrm>
          <a:prstGeom prst="rect">
            <a:avLst/>
          </a:prstGeom>
          <a:solidFill>
            <a:srgbClr val="1A2A42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4114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response strategy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4462272"/>
            <a:ext cx="4160520" cy="256032"/>
          </a:xfrm>
          <a:prstGeom prst="rect">
            <a:avLst/>
          </a:prstGeom>
          <a:solidFill>
            <a:srgbClr val="0D1E32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4622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Risk: Leaders rubber-stamp AI recommendations without exercising independent judgment.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45720" cy="5143500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2468880" cy="2377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OF 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2468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Science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Wishes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Would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3200400"/>
            <a:ext cx="2423160" cy="1325880"/>
          </a:xfrm>
          <a:prstGeom prst="rect">
            <a:avLst/>
          </a:prstGeom>
          <a:solidFill>
            <a:srgbClr val="152033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B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best leaders I’ve worked with ask: what would make this model wrong? Not: what does it say?”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27432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6 Questions That Transform the Conversation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74980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teams have the answers. They’re waiting for leaders to ask the right questions. These six reframe the relationship from reporting to partnership.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562356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280160"/>
            <a:ext cx="384048" cy="548640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2801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75888" y="133502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this model wrong?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75888" y="155448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team to articulate failure modes. Surfaces assumptions buried in model design.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883664"/>
            <a:ext cx="5623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883664"/>
            <a:ext cx="384048" cy="548640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88366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75888" y="193852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are we not using that we should?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75888" y="215798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data gaps strategically, not technically. Often the most valuable question.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487168"/>
            <a:ext cx="562356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487168"/>
            <a:ext cx="384048" cy="548640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48716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75888" y="254203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 is this prediction?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75888" y="276148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between 95% confidence and 60% confidence — a decision-critical difference.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090672"/>
            <a:ext cx="5623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090672"/>
            <a:ext cx="384048" cy="548640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09067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75888" y="314553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harmed if this model is wrong?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75888" y="336499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ethics question that every team should answer before deployment, not after.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3694176"/>
            <a:ext cx="562356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3694176"/>
            <a:ext cx="384048" cy="548640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694176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75888" y="374904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model optimise for — exactly?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675888" y="396849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leaders don’t know this about the AI systems they sponsor. This closes the gap.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4297680"/>
            <a:ext cx="5623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4297680"/>
            <a:ext cx="384048" cy="548640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42976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75888" y="435254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if it stops working?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675888" y="457200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drift detection are the governance gap most often exploited in AI failures.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377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OF 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 Questions to Ask Before Approving Any AI Initiative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questions are not technical due diligence. They are strategic and ethical. Any initiative that cannot answer all three clearly should not proceed.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99616"/>
            <a:ext cx="2697480" cy="3172968"/>
          </a:xfrm>
          <a:prstGeom prst="rect">
            <a:avLst/>
          </a:prstGeom>
          <a:solidFill>
            <a:srgbClr val="E2F4F6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99616"/>
            <a:ext cx="2697480" cy="4572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270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6184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Approve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does this AI make or inform — and who is accountable for that outcome?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9806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initiatives without clear human accountability are governance failures waiting to happen. Before approving, name the person who owns the outcome when the model is wrong.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242316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657600"/>
            <a:ext cx="128016" cy="128016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63931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accountability owner is named in writing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950208"/>
            <a:ext cx="128016" cy="128016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93192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authority to override the AI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242816"/>
            <a:ext cx="128016" cy="128016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224528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understand the model’s failure modes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18688" y="1499616"/>
            <a:ext cx="2697480" cy="3172968"/>
          </a:xfrm>
          <a:prstGeom prst="rect">
            <a:avLst/>
          </a:prstGeom>
          <a:solidFill>
            <a:srgbClr val="FDEEE9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1499616"/>
            <a:ext cx="2697480" cy="457200"/>
          </a:xfrm>
          <a:prstGeom prst="rect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5270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13048" y="16184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Approve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55848" y="202996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success look like in 12 months — and how will we measure it?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55848" y="279806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initiatives are approved with vague benefit statements. Requiring a 12-month measurable outcome forces the team to distinguish between AI as a tool and AI as a strategy.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55848" y="3566160"/>
            <a:ext cx="2423160" cy="36576"/>
          </a:xfrm>
          <a:prstGeom prst="rect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5848" y="3657600"/>
            <a:ext cx="128016" cy="128016"/>
          </a:xfrm>
          <a:prstGeom prst="ellipse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363931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 is a business outcome, not an AI output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55848" y="3950208"/>
            <a:ext cx="128016" cy="128016"/>
          </a:xfrm>
          <a:prstGeom prst="ellipse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393192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measurement exists before deployment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55848" y="4242816"/>
            <a:ext cx="128016" cy="128016"/>
          </a:xfrm>
          <a:prstGeom prst="ellipse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4224528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date is in the governance calendar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71616" y="1499616"/>
            <a:ext cx="2697480" cy="3172968"/>
          </a:xfrm>
          <a:prstGeom prst="rect">
            <a:avLst/>
          </a:prstGeom>
          <a:solidFill>
            <a:srgbClr val="FDF3E0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71616" y="1499616"/>
            <a:ext cx="2697480" cy="457200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08776" y="15270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665976" y="16184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Approve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08776" y="202996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most likely ways this could cause harm — and what is our response?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08776" y="279806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initiative has a failure mode. Leaders who approve without a pre-written harm response are making a governance decision by omission. This question makes it explicit.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08776" y="3566160"/>
            <a:ext cx="2423160" cy="36576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08776" y="3657600"/>
            <a:ext cx="128016" cy="128016"/>
          </a:xfrm>
          <a:prstGeom prst="ellipse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363931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scenarios are documented, not assumed to be absent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08776" y="3950208"/>
            <a:ext cx="128016" cy="128016"/>
          </a:xfrm>
          <a:prstGeom prst="ellipse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93192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protocol is written and assigned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08776" y="4242816"/>
            <a:ext cx="128016" cy="128016"/>
          </a:xfrm>
          <a:prstGeom prst="ellipse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224528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stakeholders have been consulted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377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OF 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30-Day AI Leadership Sprint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actions to move from AI-aware to AI-ready in 30 days.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08176"/>
            <a:ext cx="2697480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08176"/>
            <a:ext cx="2697480" cy="4572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6093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the Real Picture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029968"/>
            <a:ext cx="201168" cy="201168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011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list every AI system currently operating in your organisation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2706624"/>
            <a:ext cx="201168" cy="201168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6883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who owns accountability? Who monitors it?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383280"/>
            <a:ext cx="201168" cy="201168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33649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3 decisions where AI has most influence on outcomes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" y="4059936"/>
            <a:ext cx="201168" cy="201168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40416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team the 6 questions from Slide 4 — record the answers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18688" y="1408176"/>
            <a:ext cx="2697480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8688" y="1408176"/>
            <a:ext cx="2697480" cy="457200"/>
          </a:xfrm>
          <a:prstGeom prst="rect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14356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55848" y="16093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the Governance Frame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2029968"/>
            <a:ext cx="201168" cy="201168"/>
          </a:xfrm>
          <a:prstGeom prst="ellipse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75888" y="2011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organisation’s AI decision boundary in one sentence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2706624"/>
            <a:ext cx="201168" cy="201168"/>
          </a:xfrm>
          <a:prstGeom prst="ellipse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75888" y="26883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high-stakes AI initiative without named accountability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383280"/>
            <a:ext cx="201168" cy="201168"/>
          </a:xfrm>
          <a:prstGeom prst="ellipse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75888" y="33649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3 pre-approval questions to your most active AI project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4059936"/>
            <a:ext cx="201168" cy="201168"/>
          </a:xfrm>
          <a:prstGeom prst="ellipse">
            <a:avLst/>
          </a:prstGeom>
          <a:solidFill>
            <a:srgbClr val="E84A2F"/>
          </a:solidFill>
          <a:ln w="12700">
            <a:solidFill>
              <a:srgbClr val="E84A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75888" y="40416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standing quarterly AI review on the board agenda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71616" y="1408176"/>
            <a:ext cx="2697480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71616" y="1408176"/>
            <a:ext cx="2697480" cy="457200"/>
          </a:xfrm>
          <a:prstGeom prst="rect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08776" y="14356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08776" y="16093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Leadership Practice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36208" y="2029968"/>
            <a:ext cx="201168" cy="201168"/>
          </a:xfrm>
          <a:prstGeom prst="ellipse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28816" y="2011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this framework with your direct leadership team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36208" y="2706624"/>
            <a:ext cx="201168" cy="201168"/>
          </a:xfrm>
          <a:prstGeom prst="ellipse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36208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28816" y="26883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AI initiative to sponsor visibly — model the behaviour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36208" y="3383280"/>
            <a:ext cx="201168" cy="201168"/>
          </a:xfrm>
          <a:prstGeom prst="ellipse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28816" y="33649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how you will personally stay current on AI developments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36208" y="4059936"/>
            <a:ext cx="201168" cy="201168"/>
          </a:xfrm>
          <a:prstGeom prst="ellipse">
            <a:avLst/>
          </a:prstGeom>
          <a:solidFill>
            <a:srgbClr val="C08A20"/>
          </a:solidFill>
          <a:ln w="12700">
            <a:solidFill>
              <a:srgbClr val="C08A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36208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28816" y="40416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90-day review: has your AI decision boundary held?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36576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638251"/>
            <a:ext cx="4206240" cy="169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AI-Ready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2487168"/>
            <a:ext cx="438912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1518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leader who knows the most about AI.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who makes the best decisions because of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319272"/>
            <a:ext cx="36576" cy="2011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32918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Trust: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56816" y="329184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to act on AI output and when to override 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630168"/>
            <a:ext cx="36576" cy="2011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36027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Principled Accountability: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56816" y="360273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AI decision has a named human owner.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941064"/>
            <a:ext cx="36576" cy="2011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9136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Data Thinking: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56816" y="39136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data quality as a leadership responsibility.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251960"/>
            <a:ext cx="36576" cy="2011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4224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by Design: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56816" y="4224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AI boundaries before deployment, not after incidents.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562856"/>
            <a:ext cx="36576" cy="2011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45354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Fluency: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56816" y="453542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current through frameworks, not just training events.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57800" y="36118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Shift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257800" y="1664208"/>
            <a:ext cx="356616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0" y="1792224"/>
            <a:ext cx="3566160" cy="987552"/>
          </a:xfrm>
          <a:prstGeom prst="rect">
            <a:avLst/>
          </a:prstGeom>
          <a:solidFill>
            <a:srgbClr val="16223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18836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Delegating AI decisions to the technology team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13248" y="2231136"/>
            <a:ext cx="320040" cy="1828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23225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Owning AI decisions as a leadership responsibility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57800" y="2871216"/>
            <a:ext cx="3566160" cy="987552"/>
          </a:xfrm>
          <a:prstGeom prst="rect">
            <a:avLst/>
          </a:prstGeom>
          <a:solidFill>
            <a:srgbClr val="16223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29626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Asking: what can AI do?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13248" y="3310128"/>
            <a:ext cx="320040" cy="1828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13248" y="34015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Asking: what should AI do — and what shouldn’t it?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257800" y="3950208"/>
            <a:ext cx="3566160" cy="987552"/>
          </a:xfrm>
          <a:prstGeom prst="rect">
            <a:avLst/>
          </a:prstGeom>
          <a:solidFill>
            <a:srgbClr val="16223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13248" y="404164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Treating AI governance as compliance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13248" y="4389120"/>
            <a:ext cx="320040" cy="1828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13248" y="44805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Treating AI governance as competitive advantage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828032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1630</Words>
  <Application>Microsoft Office PowerPoint</Application>
  <PresentationFormat>On-screen Show (16:9)</PresentationFormat>
  <Paragraphs>186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AI-Ready Leader: What Senior Executives Actually Need to Know</dc:title>
  <dc:subject>PptxGenJS Presentation</dc:subject>
  <dc:creator>PptxGenJS</dc:creator>
  <cp:lastModifiedBy>Anurag Sharma</cp:lastModifiedBy>
  <cp:revision>2</cp:revision>
  <dcterms:created xsi:type="dcterms:W3CDTF">2026-03-22T05:19:09Z</dcterms:created>
  <dcterms:modified xsi:type="dcterms:W3CDTF">2026-03-22T05:27:15Z</dcterms:modified>
</cp:coreProperties>
</file>