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1" Type="http://schemas.openxmlformats.org/officeDocument/2006/relationships/image" Target="../media/image2.png"/><Relationship Id="rId10" Type="http://schemas.openxmlformats.org/officeDocument/2006/relationships/image" Target="../media/image1.png"/><Relationship Id="rId12" Type="http://schemas.openxmlformats.org/officeDocument/2006/relationships/hyperlink" Target="https://accredian.com/" TargetMode="External"/><Relationship Id="rId9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20.png"/><Relationship Id="rId8" Type="http://schemas.openxmlformats.org/officeDocument/2006/relationships/hyperlink" Target="https://accredian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hyperlink" Target="https://accredian.com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8.png"/><Relationship Id="rId5" Type="http://schemas.openxmlformats.org/officeDocument/2006/relationships/image" Target="../media/image20.png"/><Relationship Id="rId6" Type="http://schemas.openxmlformats.org/officeDocument/2006/relationships/hyperlink" Target="https://accredian.com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5.png"/><Relationship Id="rId5" Type="http://schemas.openxmlformats.org/officeDocument/2006/relationships/image" Target="../media/image25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1E3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C9982A">
              <a:alpha val="12156"/>
            </a:srgbClr>
          </a:solidFill>
          <a:ln cap="flat" cmpd="sng" w="12700">
            <a:solidFill>
              <a:srgbClr val="1E3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-182880" y="-182880"/>
            <a:ext cx="1280160" cy="1280160"/>
          </a:xfrm>
          <a:prstGeom prst="ellipse">
            <a:avLst/>
          </a:prstGeom>
          <a:solidFill>
            <a:srgbClr val="C9982A">
              <a:alpha val="25098"/>
            </a:srgbClr>
          </a:solidFill>
          <a:ln cap="flat" cmpd="sng" w="12700">
            <a:solidFill>
              <a:srgbClr val="1E3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7132320" y="3474720"/>
            <a:ext cx="2560320" cy="2560320"/>
          </a:xfrm>
          <a:prstGeom prst="ellipse">
            <a:avLst/>
          </a:prstGeom>
          <a:solidFill>
            <a:srgbClr val="1E3160">
              <a:alpha val="40000"/>
            </a:srgbClr>
          </a:solidFill>
          <a:ln cap="flat" cmpd="sng" w="12700">
            <a:solidFill>
              <a:srgbClr val="1E3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320040" y="1554480"/>
            <a:ext cx="2834640" cy="566928"/>
          </a:xfrm>
          <a:prstGeom prst="rect">
            <a:avLst/>
          </a:prstGeom>
          <a:solidFill>
            <a:srgbClr val="1A4A7A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65506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960120" y="166420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20040" y="2331720"/>
            <a:ext cx="2834640" cy="566928"/>
          </a:xfrm>
          <a:prstGeom prst="rect">
            <a:avLst/>
          </a:prstGeom>
          <a:solidFill>
            <a:srgbClr val="1A6B4A"/>
          </a:solidFill>
          <a:ln cap="flat" cmpd="sng" w="12700">
            <a:solidFill>
              <a:srgbClr val="1A6B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" y="243230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960120" y="244144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20040" y="3108960"/>
            <a:ext cx="2834640" cy="566928"/>
          </a:xfrm>
          <a:prstGeom prst="rect">
            <a:avLst/>
          </a:prstGeom>
          <a:solidFill>
            <a:srgbClr val="6B2D7A"/>
          </a:solidFill>
          <a:ln cap="flat" cmpd="sng" w="12700">
            <a:solidFill>
              <a:srgbClr val="6B2D7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" name="Google Shape;2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" y="32095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960120" y="321868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749040" y="777240"/>
            <a:ext cx="51663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Build vs Buy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vs Partner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749040" y="2578608"/>
            <a:ext cx="2560320" cy="41148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749040" y="2697480"/>
            <a:ext cx="5166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The AI Strategy Decision Framework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for Enterprise Leaders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4832604"/>
            <a:ext cx="9144000" cy="22860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00" u="sng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https://accredian.com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8686800" y="9144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C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FA3C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11480" y="128016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Strategic Context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11480" y="53035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Why the Build vs Buy vs Partner decision defines your AI trajectory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74320" y="1115568"/>
            <a:ext cx="2743200" cy="141732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12" y="1234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960120" y="1170432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82A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C9982A"/>
                </a:solidFill>
                <a:latin typeface="Georgia"/>
                <a:ea typeface="Georgia"/>
                <a:cs typeface="Georgia"/>
                <a:sym typeface="Georgia"/>
              </a:rPr>
              <a:t>73%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11480" y="1737360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of enterprise AI projects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fail to reach production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218688" y="1115568"/>
            <a:ext cx="2743200" cy="1417320"/>
          </a:xfrm>
          <a:prstGeom prst="rect">
            <a:avLst/>
          </a:prstGeom>
          <a:solidFill>
            <a:srgbClr val="1A4A7A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0" y="1234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3904488" y="1170432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82A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C9982A"/>
                </a:solidFill>
                <a:latin typeface="Georgia"/>
                <a:ea typeface="Georgia"/>
                <a:cs typeface="Georgia"/>
                <a:sym typeface="Georgia"/>
              </a:rPr>
              <a:t>4.2×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355848" y="1737360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faster time-to-value when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strategy is decided upfront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163056" y="1115568"/>
            <a:ext cx="2743200" cy="1417320"/>
          </a:xfrm>
          <a:prstGeom prst="rect">
            <a:avLst/>
          </a:prstGeom>
          <a:solidFill>
            <a:srgbClr val="6B2D7A"/>
          </a:solidFill>
          <a:ln cap="flat" cmpd="sng" w="12700">
            <a:solidFill>
              <a:srgbClr val="6B2D7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7648" y="1234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6848856" y="1170432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82A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C9982A"/>
                </a:solidFill>
                <a:latin typeface="Georgia"/>
                <a:ea typeface="Georgia"/>
                <a:cs typeface="Georgia"/>
                <a:sym typeface="Georgia"/>
              </a:rPr>
              <a:t>$2.1T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300216" y="1737360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global AI market by 2030 —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strategic positioning is critical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74320" y="2724912"/>
            <a:ext cx="8595360" cy="658368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488" y="281635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"/>
          <p:cNvSpPr/>
          <p:nvPr/>
        </p:nvSpPr>
        <p:spPr>
          <a:xfrm>
            <a:off x="1051560" y="277977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82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9982A"/>
                </a:solidFill>
                <a:latin typeface="Calibri"/>
                <a:ea typeface="Calibri"/>
                <a:cs typeface="Calibri"/>
                <a:sym typeface="Calibri"/>
              </a:rPr>
              <a:t>Core Question: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051560" y="3044952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Should your organisation build proprietary AI, purchase vendor solutions, or form strategic AI partnerships — and under what conditions?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74320" y="352958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8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4A6080"/>
                </a:solidFill>
                <a:latin typeface="Calibri"/>
                <a:ea typeface="Calibri"/>
                <a:cs typeface="Calibri"/>
                <a:sym typeface="Calibri"/>
              </a:rPr>
              <a:t>Key Decision Dimensions: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274320" y="3822192"/>
            <a:ext cx="160020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5760" y="391363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713232" y="388620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Time-to-Market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993392" y="3822192"/>
            <a:ext cx="160020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84832" y="391363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/>
          <p:nvPr/>
        </p:nvSpPr>
        <p:spPr>
          <a:xfrm>
            <a:off x="2432304" y="388620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Capital &amp; OpEx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3712464" y="3822192"/>
            <a:ext cx="160020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03904" y="391363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4151376" y="388620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Data Privacy &amp; IP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431536" y="3822192"/>
            <a:ext cx="160020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22976" y="391363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/>
          <p:nvPr/>
        </p:nvSpPr>
        <p:spPr>
          <a:xfrm>
            <a:off x="5870448" y="388620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Talent Availability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7150608" y="3822192"/>
            <a:ext cx="160020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42048" y="391363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7589520" y="388620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Customisation Depth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0" y="4832604"/>
            <a:ext cx="9144000" cy="22860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>
            <a:hlinkClick r:id="rId12"/>
          </p:cNvPr>
          <p:cNvSpPr/>
          <p:nvPr/>
        </p:nvSpPr>
        <p:spPr>
          <a:xfrm>
            <a:off x="0" y="486918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lang="en-US" sz="700" u="sng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https://accredian.com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1E3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8686800" y="9144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C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FA3C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11480" y="128016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Three Paths Compared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11480" y="53035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A side-by-side executive view of each AI strategy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228600" y="1060704"/>
            <a:ext cx="2816352" cy="3767328"/>
          </a:xfrm>
          <a:prstGeom prst="rect">
            <a:avLst/>
          </a:prstGeom>
          <a:solidFill>
            <a:srgbClr val="1E5A94"/>
          </a:solidFill>
          <a:ln cap="flat" cmpd="sng" w="12700">
            <a:solidFill>
              <a:srgbClr val="1E5A9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228600" y="1060704"/>
            <a:ext cx="2816352" cy="658368"/>
          </a:xfrm>
          <a:prstGeom prst="rect">
            <a:avLst/>
          </a:prstGeom>
          <a:solidFill>
            <a:srgbClr val="1A4A7A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192" y="115214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850392" y="1133856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38328" y="1463040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In-house Development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38328" y="1783080"/>
            <a:ext cx="2596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PROS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" y="20299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/>
          <p:nvPr/>
        </p:nvSpPr>
        <p:spPr>
          <a:xfrm>
            <a:off x="576072" y="201168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IP ownership &amp; data control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" y="235000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/>
          <p:nvPr/>
        </p:nvSpPr>
        <p:spPr>
          <a:xfrm>
            <a:off x="576072" y="23317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Maximum customisation depth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" y="267004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/>
          <p:nvPr/>
        </p:nvSpPr>
        <p:spPr>
          <a:xfrm>
            <a:off x="576072" y="265176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Long-term competitive moat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" y="299008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576072" y="297180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vendor lock-in risk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38328" y="3346704"/>
            <a:ext cx="2596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07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7070"/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328" y="35661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557784" y="3547872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18–36 month time-to-value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328" y="385876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>
            <a:off x="557784" y="3840480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High capital &amp; talent cost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328" y="415137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557784" y="4133088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Execution risk is substantial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328" y="444398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/>
          <p:nvPr/>
        </p:nvSpPr>
        <p:spPr>
          <a:xfrm>
            <a:off x="557784" y="4425696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Requires ML team of 10–50+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3127248" y="1060704"/>
            <a:ext cx="2816352" cy="3767328"/>
          </a:xfrm>
          <a:prstGeom prst="rect">
            <a:avLst/>
          </a:prstGeom>
          <a:solidFill>
            <a:srgbClr val="1E7A5A"/>
          </a:solidFill>
          <a:ln cap="flat" cmpd="sng" w="12700">
            <a:solidFill>
              <a:srgbClr val="1E7A5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3127248" y="1060704"/>
            <a:ext cx="2816352" cy="658368"/>
          </a:xfrm>
          <a:prstGeom prst="rect">
            <a:avLst/>
          </a:prstGeom>
          <a:solidFill>
            <a:srgbClr val="1A6B4A"/>
          </a:solidFill>
          <a:ln cap="flat" cmpd="sng" w="12700">
            <a:solidFill>
              <a:srgbClr val="1A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91840" y="115214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3749040" y="1133856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236976" y="1463040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Vendor / SaaS Solution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236976" y="1783080"/>
            <a:ext cx="2596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PROS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20299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3474720" y="201168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Fastest deployment (weeks)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235000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3474720" y="23317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Predictable SaaS pricing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267004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3474720" y="265176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Proven, battle-tested models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299008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3474720" y="297180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Vendor handles maintenance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236976" y="3346704"/>
            <a:ext cx="2596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07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7070"/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6976" y="35661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3456432" y="3547872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Limited customisation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" name="Google Shape;12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6976" y="385876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/>
          <p:nvPr/>
        </p:nvSpPr>
        <p:spPr>
          <a:xfrm>
            <a:off x="3456432" y="3840480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Vendor lock-in exposure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6976" y="415137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3456432" y="4133088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Data leaves your perimeter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6976" y="444398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3456432" y="4425696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Generic — not competitive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035040" y="1060704"/>
            <a:ext cx="2816352" cy="3767328"/>
          </a:xfrm>
          <a:prstGeom prst="rect">
            <a:avLst/>
          </a:prstGeom>
          <a:solidFill>
            <a:srgbClr val="7B3D8A"/>
          </a:solidFill>
          <a:ln cap="flat" cmpd="sng" w="12700">
            <a:solidFill>
              <a:srgbClr val="7B3D8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6035040" y="1060704"/>
            <a:ext cx="2816352" cy="658368"/>
          </a:xfrm>
          <a:prstGeom prst="rect">
            <a:avLst/>
          </a:prstGeom>
          <a:solidFill>
            <a:srgbClr val="6B2D7A"/>
          </a:solidFill>
          <a:ln cap="flat" cmpd="sng" w="12700">
            <a:solidFill>
              <a:srgbClr val="6B2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9632" y="115214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/>
          <p:nvPr/>
        </p:nvSpPr>
        <p:spPr>
          <a:xfrm>
            <a:off x="6656832" y="1133856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144768" y="1463040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Strategic AI Alliance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144768" y="1783080"/>
            <a:ext cx="2596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PROS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4768" y="20299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6382512" y="201168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Shared risk &amp; investment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4768" y="235000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/>
          <p:nvPr/>
        </p:nvSpPr>
        <p:spPr>
          <a:xfrm>
            <a:off x="6382512" y="23317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to specialist IP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4768" y="267004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/>
          <p:nvPr/>
        </p:nvSpPr>
        <p:spPr>
          <a:xfrm>
            <a:off x="6382512" y="265176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Faster than Build alone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" name="Google Shape;1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4768" y="299008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/>
          <p:nvPr/>
        </p:nvSpPr>
        <p:spPr>
          <a:xfrm>
            <a:off x="6382512" y="297180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Co-innovation potential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144768" y="3346704"/>
            <a:ext cx="2596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07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7070"/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4768" y="35661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6364224" y="3547872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Governance complexity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4768" y="385876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/>
          <p:nvPr/>
        </p:nvSpPr>
        <p:spPr>
          <a:xfrm>
            <a:off x="6364224" y="3840480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Revenue &amp; IP sharing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4768" y="415137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6364224" y="4133088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Cultural alignment needed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4" name="Google Shape;15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4768" y="444398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/>
          <p:nvPr/>
        </p:nvSpPr>
        <p:spPr>
          <a:xfrm>
            <a:off x="6364224" y="4425696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Dependency on partner health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0" y="4832604"/>
            <a:ext cx="9144000" cy="22860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>
            <a:hlinkClick r:id="rId8"/>
          </p:cNvPr>
          <p:cNvSpPr/>
          <p:nvPr/>
        </p:nvSpPr>
        <p:spPr>
          <a:xfrm>
            <a:off x="0" y="486918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lang="en-US" sz="700" u="sng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https://accredian.com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8686800" y="9144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C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FA3C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11480" y="128016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Decision Matrix — When to Choose What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11480" y="548640"/>
            <a:ext cx="7315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Match your organisational context to the right AI strategy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201168" y="1078992"/>
            <a:ext cx="2011680" cy="3840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274320" y="109728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 Factor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2249424" y="1078992"/>
            <a:ext cx="2240280" cy="384048"/>
          </a:xfrm>
          <a:prstGeom prst="rect">
            <a:avLst/>
          </a:prstGeom>
          <a:solidFill>
            <a:srgbClr val="1A4A7A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2322576" y="1097280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⚙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526280" y="1078992"/>
            <a:ext cx="2240280" cy="384048"/>
          </a:xfrm>
          <a:prstGeom prst="rect">
            <a:avLst/>
          </a:prstGeom>
          <a:solidFill>
            <a:srgbClr val="1A6B4A"/>
          </a:solidFill>
          <a:ln cap="flat" cmpd="sng" w="12700">
            <a:solidFill>
              <a:srgbClr val="1A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4599432" y="1097280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BUY 🛒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803136" y="1078992"/>
            <a:ext cx="2240280" cy="384048"/>
          </a:xfrm>
          <a:prstGeom prst="rect">
            <a:avLst/>
          </a:prstGeom>
          <a:solidFill>
            <a:srgbClr val="6B2D7A"/>
          </a:solidFill>
          <a:ln cap="flat" cmpd="sng" w="12700">
            <a:solidFill>
              <a:srgbClr val="6B2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6876288" y="1097280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 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201168" y="1481328"/>
            <a:ext cx="2011680" cy="384048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292608" y="1499616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Time Horizon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2249424" y="1481328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2340864" y="1499616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3+ years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526280" y="1481328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4617720" y="1499616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Immediate (weeks)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803136" y="1481328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6894576" y="1499616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6–18 months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201168" y="1865376"/>
            <a:ext cx="2011680" cy="384048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292608" y="1883664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2249424" y="1865376"/>
            <a:ext cx="2240280" cy="384048"/>
          </a:xfrm>
          <a:prstGeom prst="rect">
            <a:avLst/>
          </a:prstGeom>
          <a:solidFill>
            <a:srgbClr val="EAF0FC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2340864" y="1883664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High CapEx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526280" y="1865376"/>
            <a:ext cx="2240280" cy="384048"/>
          </a:xfrm>
          <a:prstGeom prst="rect">
            <a:avLst/>
          </a:prstGeom>
          <a:solidFill>
            <a:srgbClr val="EAF0FC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4617720" y="1883664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Predictable OpEx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6803136" y="1865376"/>
            <a:ext cx="2240280" cy="384048"/>
          </a:xfrm>
          <a:prstGeom prst="rect">
            <a:avLst/>
          </a:prstGeom>
          <a:solidFill>
            <a:srgbClr val="EAF0FC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6894576" y="1883664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Shared investment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201168" y="2249424"/>
            <a:ext cx="2011680" cy="384048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292608" y="2267712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Data Sensitivity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2249424" y="2249424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2340864" y="2267712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Mission-critical IP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526280" y="2249424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4617720" y="2267712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Standard / Public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803136" y="2249424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6894576" y="2267712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Controlled sharing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201168" y="2633472"/>
            <a:ext cx="2011680" cy="384048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292608" y="2651760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AI Talent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2249424" y="2633472"/>
            <a:ext cx="2240280" cy="384048"/>
          </a:xfrm>
          <a:prstGeom prst="rect">
            <a:avLst/>
          </a:prstGeom>
          <a:solidFill>
            <a:srgbClr val="EAF0FC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2340864" y="2651760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Large internal team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4526280" y="2633472"/>
            <a:ext cx="2240280" cy="384048"/>
          </a:xfrm>
          <a:prstGeom prst="rect">
            <a:avLst/>
          </a:prstGeom>
          <a:solidFill>
            <a:srgbClr val="EAF0FC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617720" y="2651760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No AI team needed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803136" y="2633472"/>
            <a:ext cx="2240280" cy="384048"/>
          </a:xfrm>
          <a:prstGeom prst="rect">
            <a:avLst/>
          </a:prstGeom>
          <a:solidFill>
            <a:srgbClr val="EAF0FC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6894576" y="2651760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Hybrid capability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201168" y="3017520"/>
            <a:ext cx="2011680" cy="384048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292608" y="3035808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Differentiation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2249424" y="3017520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2340864" y="3035808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Core competitive use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526280" y="3017520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4617720" y="3035808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Commodity function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6803136" y="3017520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6894576" y="3035808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Specialist domain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201168" y="3401568"/>
            <a:ext cx="2011680" cy="384048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292608" y="3419856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Risk Appetite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2249424" y="3401568"/>
            <a:ext cx="2240280" cy="384048"/>
          </a:xfrm>
          <a:prstGeom prst="rect">
            <a:avLst/>
          </a:prstGeom>
          <a:solidFill>
            <a:srgbClr val="EAF0FC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2340864" y="3419856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High — long payoff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526280" y="3401568"/>
            <a:ext cx="2240280" cy="384048"/>
          </a:xfrm>
          <a:prstGeom prst="rect">
            <a:avLst/>
          </a:prstGeom>
          <a:solidFill>
            <a:srgbClr val="EAF0FC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4617720" y="3419856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Low — proven vendor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803136" y="3401568"/>
            <a:ext cx="2240280" cy="384048"/>
          </a:xfrm>
          <a:prstGeom prst="rect">
            <a:avLst/>
          </a:prstGeom>
          <a:solidFill>
            <a:srgbClr val="EAF0FC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6894576" y="3419856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Medium — shared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201168" y="3785616"/>
            <a:ext cx="2011680" cy="384048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292608" y="3803904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Regulatory Context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2249424" y="3785616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2340864" y="3803904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Full control needed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4526280" y="3785616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4617720" y="3803904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Vendor compliant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803136" y="3785616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6894576" y="3803904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Joint governance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201168" y="4544060"/>
            <a:ext cx="8778240" cy="237744"/>
          </a:xfrm>
          <a:prstGeom prst="rect">
            <a:avLst/>
          </a:prstGeom>
          <a:solidFill>
            <a:srgbClr val="152347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4" name="Google Shape;2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608" y="4548777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6"/>
          <p:cNvSpPr/>
          <p:nvPr/>
        </p:nvSpPr>
        <p:spPr>
          <a:xfrm>
            <a:off x="548640" y="4569097"/>
            <a:ext cx="8138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Most mature enterprises use a portfolio approach — Build for core IP, Buy for commodity, Partner for frontier capabilities.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0" y="4832604"/>
            <a:ext cx="9144000" cy="22860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>
            <a:hlinkClick r:id="rId4"/>
          </p:cNvPr>
          <p:cNvSpPr/>
          <p:nvPr/>
        </p:nvSpPr>
        <p:spPr>
          <a:xfrm>
            <a:off x="0" y="486918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lang="en-US" sz="700" u="sng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https://accredian.com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1E3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8686800" y="9144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C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FA3C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11480" y="128016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Real-World Patterns &amp; Your Next Steps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11480" y="548640"/>
            <a:ext cx="8229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How leading enterprises deploy AI strategy — and what you should do this quarter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4526280" y="1042416"/>
            <a:ext cx="36576" cy="3822192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256032" y="107899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8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9982A"/>
                </a:solidFill>
                <a:latin typeface="Calibri"/>
                <a:ea typeface="Calibri"/>
                <a:cs typeface="Calibri"/>
                <a:sym typeface="Calibri"/>
              </a:rPr>
              <a:t>Industry Patterns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256032" y="1463040"/>
            <a:ext cx="4160520" cy="969264"/>
          </a:xfrm>
          <a:prstGeom prst="rect">
            <a:avLst/>
          </a:prstGeom>
          <a:solidFill>
            <a:srgbClr val="152347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256032" y="1463040"/>
            <a:ext cx="640080" cy="969264"/>
          </a:xfrm>
          <a:prstGeom prst="rect">
            <a:avLst/>
          </a:prstGeom>
          <a:solidFill>
            <a:srgbClr val="1A4A7A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55448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7"/>
          <p:cNvSpPr/>
          <p:nvPr/>
        </p:nvSpPr>
        <p:spPr>
          <a:xfrm>
            <a:off x="292608" y="201168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969264" y="155448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DeepMind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969264" y="1847088"/>
            <a:ext cx="3337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Built proprietary AlphaFold for protein structure — irreplaceable competitive moat in life sciences.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256032" y="2560320"/>
            <a:ext cx="4160520" cy="969264"/>
          </a:xfrm>
          <a:prstGeom prst="rect">
            <a:avLst/>
          </a:prstGeom>
          <a:solidFill>
            <a:srgbClr val="152347"/>
          </a:solidFill>
          <a:ln cap="flat" cmpd="sng" w="12700">
            <a:solidFill>
              <a:srgbClr val="1A6B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256032" y="2560320"/>
            <a:ext cx="640080" cy="969264"/>
          </a:xfrm>
          <a:prstGeom prst="rect">
            <a:avLst/>
          </a:prstGeom>
          <a:solidFill>
            <a:srgbClr val="1A6B4A"/>
          </a:solidFill>
          <a:ln cap="flat" cmpd="sng" w="12700">
            <a:solidFill>
              <a:srgbClr val="1A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265176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7"/>
          <p:cNvSpPr/>
          <p:nvPr/>
        </p:nvSpPr>
        <p:spPr>
          <a:xfrm>
            <a:off x="292608" y="310896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969264" y="265176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General Motors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969264" y="2944368"/>
            <a:ext cx="3337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Adopted Microsoft Azure OpenAI for customer service automation — 6-week deployment vs. 2-year build.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256032" y="3657600"/>
            <a:ext cx="4160520" cy="969264"/>
          </a:xfrm>
          <a:prstGeom prst="rect">
            <a:avLst/>
          </a:prstGeom>
          <a:solidFill>
            <a:srgbClr val="152347"/>
          </a:solidFill>
          <a:ln cap="flat" cmpd="sng" w="12700">
            <a:solidFill>
              <a:srgbClr val="6B2D7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256032" y="3657600"/>
            <a:ext cx="640080" cy="969264"/>
          </a:xfrm>
          <a:prstGeom prst="rect">
            <a:avLst/>
          </a:prstGeom>
          <a:solidFill>
            <a:srgbClr val="6B2D7A"/>
          </a:solidFill>
          <a:ln cap="flat" cmpd="sng" w="12700">
            <a:solidFill>
              <a:srgbClr val="6B2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5" name="Google Shape;26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374904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7"/>
          <p:cNvSpPr/>
          <p:nvPr/>
        </p:nvSpPr>
        <p:spPr>
          <a:xfrm>
            <a:off x="292608" y="420624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969264" y="374904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Pfizer + BioNTech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969264" y="4041648"/>
            <a:ext cx="3337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AI partnership to co-develop drug candidate screening models — shared IP with ring-fenced data governance.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663440" y="1078992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8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9982A"/>
                </a:solidFill>
                <a:latin typeface="Calibri"/>
                <a:ea typeface="Calibri"/>
                <a:cs typeface="Calibri"/>
                <a:sym typeface="Calibri"/>
              </a:rPr>
              <a:t>90-Day Action Plan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4663440" y="1463040"/>
            <a:ext cx="4206240" cy="969264"/>
          </a:xfrm>
          <a:prstGeom prst="rect">
            <a:avLst/>
          </a:prstGeom>
          <a:solidFill>
            <a:srgbClr val="152347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4663440" y="1463040"/>
            <a:ext cx="640080" cy="969264"/>
          </a:xfrm>
          <a:prstGeom prst="rect">
            <a:avLst/>
          </a:prstGeom>
          <a:solidFill>
            <a:srgbClr val="1A4A7A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4681728" y="1719072"/>
            <a:ext cx="6035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5394960" y="15544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Days 1–30: Audit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5394960" y="1847088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Map all current &amp; planned AI initiatives. Classify each by strategic importance and data sensitivity.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4663440" y="2560320"/>
            <a:ext cx="4206240" cy="969264"/>
          </a:xfrm>
          <a:prstGeom prst="rect">
            <a:avLst/>
          </a:prstGeom>
          <a:solidFill>
            <a:srgbClr val="152347"/>
          </a:solidFill>
          <a:ln cap="flat" cmpd="sng" w="12700">
            <a:solidFill>
              <a:srgbClr val="1A6B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4663440" y="2560320"/>
            <a:ext cx="640080" cy="969264"/>
          </a:xfrm>
          <a:prstGeom prst="rect">
            <a:avLst/>
          </a:prstGeom>
          <a:solidFill>
            <a:srgbClr val="1A6B4A"/>
          </a:solidFill>
          <a:ln cap="flat" cmpd="sng" w="12700">
            <a:solidFill>
              <a:srgbClr val="1A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4681728" y="2816352"/>
            <a:ext cx="6035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5394960" y="26517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Days 31–60: Evaluate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5394960" y="2944368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Score each initiative against the Decision Matrix. Identify quick Build/Buy/Partner wins.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4663440" y="3657600"/>
            <a:ext cx="4206240" cy="969264"/>
          </a:xfrm>
          <a:prstGeom prst="rect">
            <a:avLst/>
          </a:prstGeom>
          <a:solidFill>
            <a:srgbClr val="152347"/>
          </a:solidFill>
          <a:ln cap="flat" cmpd="sng" w="12700">
            <a:solidFill>
              <a:srgbClr val="6B2D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4663440" y="3657600"/>
            <a:ext cx="640080" cy="969264"/>
          </a:xfrm>
          <a:prstGeom prst="rect">
            <a:avLst/>
          </a:prstGeom>
          <a:solidFill>
            <a:srgbClr val="6B2D7A"/>
          </a:solidFill>
          <a:ln cap="flat" cmpd="sng" w="12700">
            <a:solidFill>
              <a:srgbClr val="6B2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4681728" y="3913632"/>
            <a:ext cx="6035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5394960" y="37490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Days 61–90: Decide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5394960" y="4041648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Present board-level AI strategy. Allocate budget, assign ownership, set 12-month OKRs per initiative.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0" y="4832604"/>
            <a:ext cx="9144000" cy="22860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>
            <a:hlinkClick r:id="rId6"/>
          </p:cNvPr>
          <p:cNvSpPr/>
          <p:nvPr/>
        </p:nvSpPr>
        <p:spPr>
          <a:xfrm>
            <a:off x="0" y="486918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lang="en-US" sz="700" u="sng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https://accredian.com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1E3160">
              <a:alpha val="45098"/>
            </a:srgbClr>
          </a:solidFill>
          <a:ln cap="flat" cmpd="sng" w="12700">
            <a:solidFill>
              <a:srgbClr val="1E3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E3160">
              <a:alpha val="30196"/>
            </a:srgbClr>
          </a:solidFill>
          <a:ln cap="flat" cmpd="sng" w="12700">
            <a:solidFill>
              <a:srgbClr val="1E3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256032" y="960120"/>
            <a:ext cx="56692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AI Strategy is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Not a Vendor Decision.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256032" y="2761488"/>
            <a:ext cx="3200400" cy="43891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256032" y="2889504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It's a capability decision — one that shapes your organisation's competitive position for the next decade. The leaders who get this right will define the AI era in their industries.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256032" y="3840480"/>
            <a:ext cx="3474720" cy="822960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6035040" y="8229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8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9982A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5989320" y="1261872"/>
            <a:ext cx="2926080" cy="694944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2" name="Google Shape;3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8192" y="141732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8"/>
          <p:cNvSpPr/>
          <p:nvPr/>
        </p:nvSpPr>
        <p:spPr>
          <a:xfrm>
            <a:off x="6528816" y="1371600"/>
            <a:ext cx="23042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single path fits all — use a portfolio approach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989320" y="2084832"/>
            <a:ext cx="2926080" cy="694944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5" name="Google Shape;30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8192" y="22402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8"/>
          <p:cNvSpPr/>
          <p:nvPr/>
        </p:nvSpPr>
        <p:spPr>
          <a:xfrm>
            <a:off x="6528816" y="2194560"/>
            <a:ext cx="23042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sovereignty must anchor every decision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5989320" y="2907792"/>
            <a:ext cx="2926080" cy="694944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8192" y="306324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8"/>
          <p:cNvSpPr/>
          <p:nvPr/>
        </p:nvSpPr>
        <p:spPr>
          <a:xfrm>
            <a:off x="6528816" y="3017520"/>
            <a:ext cx="23042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Decide in 90 days or your competitors will decide for you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5989320" y="3730752"/>
            <a:ext cx="2926080" cy="694944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8192" y="38862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8"/>
          <p:cNvSpPr/>
          <p:nvPr/>
        </p:nvSpPr>
        <p:spPr>
          <a:xfrm>
            <a:off x="6528816" y="3840480"/>
            <a:ext cx="23042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window for first-mover advantage is closing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0" y="4832604"/>
            <a:ext cx="9144000" cy="22860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lang="en-US" sz="700" u="sng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https://accredian.com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