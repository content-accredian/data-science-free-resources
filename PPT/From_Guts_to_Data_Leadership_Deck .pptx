
<file path=[Content_Types].xml><?xml version="1.0" encoding="utf-8"?>
<Types xmlns="http://schemas.openxmlformats.org/package/2006/content-types">
  <Default ContentType="application/xml" Extension="xml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</p:sldIdLst>
  <p:sldSz cy="5143500" cx="9144000"/>
  <p:notesSz cx="51435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GoogleSlidesCustomDataVersion2">
      <go:slidesCustomData xmlns:go="http://customooxmlschemas.google.com/" r:id="rId13" roundtripDataSignature="AMtx7mh89ZfjWRGAGux2fIfSn+mELADDV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customschemas.google.com/relationships/presentationmetadata" Target="metadata"/><Relationship Id="rId12" Type="http://schemas.openxmlformats.org/officeDocument/2006/relationships/slide" Target="slides/slide8.xml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857400" y="685800"/>
            <a:ext cx="342915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514350" y="4343400"/>
            <a:ext cx="41148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" name="Shape 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oogle Shape;8;p1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" name="Google Shape;9;p1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" name="Google Shape;10;p1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0" i="0" lang="en-US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31" name="Google Shape;31;p2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" name="Google Shape;32;p2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3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59" name="Google Shape;59;p3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0" name="Google Shape;60;p3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4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99" name="Google Shape;99;p4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0" name="Google Shape;100;p4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5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41" name="Google Shape;141;p5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2" name="Google Shape;142;p5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6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195" name="Google Shape;195;p6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6" name="Google Shape;196;p6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8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9" name="Google Shape;229;p7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30" name="Google Shape;230;p7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7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8:notes"/>
          <p:cNvSpPr/>
          <p:nvPr>
            <p:ph idx="2" type="sldImg"/>
          </p:nvPr>
        </p:nvSpPr>
        <p:spPr>
          <a:xfrm>
            <a:off x="0" y="0"/>
            <a:ext cx="3000000" cy="3000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  <p:sp>
        <p:nvSpPr>
          <p:cNvPr id="290" name="Google Shape;290;p8:notes"/>
          <p:cNvSpPr txBox="1"/>
          <p:nvPr>
            <p:ph idx="1" type="body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1" name="Google Shape;291;p8:notes"/>
          <p:cNvSpPr txBox="1"/>
          <p:nvPr>
            <p:ph idx="12" type="sldNum"/>
          </p:nvPr>
        </p:nvSpPr>
        <p:spPr>
          <a:xfrm>
            <a:off x="0" y="0"/>
            <a:ext cx="3000000" cy="3000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EFAULT">
  <p:cSld name="DEFAULT">
    <p:bg>
      <p:bgPr>
        <a:solidFill>
          <a:schemeClr val="lt1"/>
        </a:solidFill>
      </p:bgPr>
    </p:bg>
    <p:spTree>
      <p:nvGrpSpPr>
        <p:cNvPr id="6" name="Shape 6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hyperlink" Target="https://accredian.com/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hyperlink" Target="https://accredian.com/" TargetMode="Externa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hyperlink" Target="https://accredian.com/" TargetMode="Externa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hyperlink" Target="https://accredian.com/" TargetMode="Externa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accredian.com/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hyperlink" Target="https://accredian.com/" TargetMode="Externa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hyperlink" Target="https://accredian.com/" TargetMode="Externa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"/>
          <p:cNvSpPr/>
          <p:nvPr/>
        </p:nvSpPr>
        <p:spPr>
          <a:xfrm>
            <a:off x="0" y="0"/>
            <a:ext cx="73152" cy="514350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" name="Google Shape;13;p1"/>
          <p:cNvSpPr/>
          <p:nvPr/>
        </p:nvSpPr>
        <p:spPr>
          <a:xfrm>
            <a:off x="6583680" y="-1005840"/>
            <a:ext cx="3474720" cy="3474720"/>
          </a:xfrm>
          <a:prstGeom prst="ellipse">
            <a:avLst/>
          </a:prstGeom>
          <a:solidFill>
            <a:srgbClr val="243555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" name="Google Shape;14;p1"/>
          <p:cNvSpPr/>
          <p:nvPr/>
        </p:nvSpPr>
        <p:spPr>
          <a:xfrm>
            <a:off x="7132320" y="-457200"/>
            <a:ext cx="2286000" cy="2286000"/>
          </a:xfrm>
          <a:prstGeom prst="ellipse">
            <a:avLst/>
          </a:prstGeom>
          <a:solidFill>
            <a:srgbClr val="203050"/>
          </a:solidFill>
          <a:ln cap="flat" cmpd="sng" w="12700">
            <a:solidFill>
              <a:srgbClr val="344A7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" name="Google Shape;15;p1"/>
          <p:cNvSpPr/>
          <p:nvPr/>
        </p:nvSpPr>
        <p:spPr>
          <a:xfrm>
            <a:off x="457200" y="914400"/>
            <a:ext cx="7315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6B8CAE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·  </a:t>
            </a:r>
            <a:r>
              <a:rPr b="1" i="0" lang="en-US" sz="1000" u="none" cap="none" strike="noStrike">
                <a:solidFill>
                  <a:srgbClr val="6B8CAE"/>
                </a:solidFill>
                <a:latin typeface="Calibri"/>
                <a:ea typeface="Calibri"/>
                <a:cs typeface="Calibri"/>
                <a:sym typeface="Calibri"/>
              </a:rPr>
              <a:t>DECISION INTELLIGENCE  </a:t>
            </a:r>
            <a:endParaRPr b="0" i="0" sz="10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" name="Google Shape;16;p1"/>
          <p:cNvSpPr/>
          <p:nvPr/>
        </p:nvSpPr>
        <p:spPr>
          <a:xfrm>
            <a:off x="457200" y="1371600"/>
            <a:ext cx="7772400" cy="9601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Font typeface="Georgia"/>
              <a:buNone/>
            </a:pPr>
            <a:r>
              <a:rPr b="1" i="0" lang="en-US" sz="52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From Guts to Data</a:t>
            </a:r>
            <a:endParaRPr b="0" i="0" sz="52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1"/>
          <p:cNvSpPr/>
          <p:nvPr/>
        </p:nvSpPr>
        <p:spPr>
          <a:xfrm>
            <a:off x="457200" y="2304288"/>
            <a:ext cx="7772400" cy="68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8C4E0"/>
              </a:buClr>
              <a:buSzPts val="2400"/>
              <a:buFont typeface="Calibri"/>
              <a:buNone/>
            </a:pPr>
            <a:r>
              <a:rPr b="0" i="1" lang="en-US" sz="2400" u="none" cap="none" strike="noStrike">
                <a:solidFill>
                  <a:srgbClr val="A8C4E0"/>
                </a:solidFill>
                <a:latin typeface="Calibri"/>
                <a:ea typeface="Calibri"/>
                <a:cs typeface="Calibri"/>
                <a:sym typeface="Calibri"/>
              </a:rPr>
              <a:t>How Senior Leaders Make Better Decisions with AI</a:t>
            </a:r>
            <a:endParaRPr b="0" i="0" sz="24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" name="Google Shape;18;p1"/>
          <p:cNvSpPr/>
          <p:nvPr/>
        </p:nvSpPr>
        <p:spPr>
          <a:xfrm>
            <a:off x="457200" y="3108960"/>
            <a:ext cx="3657600" cy="36576"/>
          </a:xfrm>
          <a:prstGeom prst="rect">
            <a:avLst/>
          </a:prstGeom>
          <a:solidFill>
            <a:srgbClr val="2E4A6A"/>
          </a:solidFill>
          <a:ln cap="flat" cmpd="sng" w="12700">
            <a:solidFill>
              <a:srgbClr val="2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" name="Google Shape;19;p1"/>
          <p:cNvSpPr/>
          <p:nvPr/>
        </p:nvSpPr>
        <p:spPr>
          <a:xfrm>
            <a:off x="457200" y="3291840"/>
            <a:ext cx="6858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500"/>
              <a:buFont typeface="Calibri"/>
              <a:buNone/>
            </a:pPr>
            <a:r>
              <a:rPr b="0" i="0" lang="en-US" sz="1500" u="none" cap="none" strike="noStrike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The practical shift from intuition-led to evidence-augmented decision-making</a:t>
            </a:r>
            <a:endParaRPr b="0" i="0" sz="15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" name="Google Shape;20;p1"/>
          <p:cNvSpPr/>
          <p:nvPr/>
        </p:nvSpPr>
        <p:spPr>
          <a:xfrm>
            <a:off x="0" y="4224528"/>
            <a:ext cx="9144000" cy="918972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16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1"/>
          <p:cNvSpPr/>
          <p:nvPr/>
        </p:nvSpPr>
        <p:spPr>
          <a:xfrm>
            <a:off x="457200" y="43159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7 Slides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" name="Google Shape;22;p1"/>
          <p:cNvSpPr/>
          <p:nvPr/>
        </p:nvSpPr>
        <p:spPr>
          <a:xfrm>
            <a:off x="457200" y="46360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AB8"/>
                </a:solidFill>
                <a:latin typeface="Calibri"/>
                <a:ea typeface="Calibri"/>
                <a:cs typeface="Calibri"/>
                <a:sym typeface="Calibri"/>
              </a:rPr>
              <a:t>Framework + Exercises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" name="Google Shape;23;p1"/>
          <p:cNvSpPr/>
          <p:nvPr/>
        </p:nvSpPr>
        <p:spPr>
          <a:xfrm>
            <a:off x="3291840" y="4407408"/>
            <a:ext cx="27432" cy="594360"/>
          </a:xfrm>
          <a:prstGeom prst="rect">
            <a:avLst/>
          </a:prstGeom>
          <a:solidFill>
            <a:srgbClr val="2E4A6A"/>
          </a:solidFill>
          <a:ln cap="flat" cmpd="sng" w="12700">
            <a:solidFill>
              <a:srgbClr val="2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" name="Google Shape;24;p1"/>
          <p:cNvSpPr/>
          <p:nvPr/>
        </p:nvSpPr>
        <p:spPr>
          <a:xfrm>
            <a:off x="3429000" y="43159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Senior Level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" name="Google Shape;25;p1"/>
          <p:cNvSpPr/>
          <p:nvPr/>
        </p:nvSpPr>
        <p:spPr>
          <a:xfrm>
            <a:off x="3429000" y="46360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AB8"/>
                </a:solidFill>
                <a:latin typeface="Calibri"/>
                <a:ea typeface="Calibri"/>
                <a:cs typeface="Calibri"/>
                <a:sym typeface="Calibri"/>
              </a:rPr>
              <a:t>No Technical Background Required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" name="Google Shape;26;p1"/>
          <p:cNvSpPr/>
          <p:nvPr/>
        </p:nvSpPr>
        <p:spPr>
          <a:xfrm>
            <a:off x="6263640" y="4407408"/>
            <a:ext cx="27432" cy="594360"/>
          </a:xfrm>
          <a:prstGeom prst="rect">
            <a:avLst/>
          </a:prstGeom>
          <a:solidFill>
            <a:srgbClr val="2E4A6A"/>
          </a:solidFill>
          <a:ln cap="flat" cmpd="sng" w="12700">
            <a:solidFill>
              <a:srgbClr val="2E4A6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1"/>
          <p:cNvSpPr/>
          <p:nvPr/>
        </p:nvSpPr>
        <p:spPr>
          <a:xfrm>
            <a:off x="6400800" y="4315968"/>
            <a:ext cx="256032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i="0" lang="en-US" sz="1600" u="none" cap="none" strike="noStrike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Actionable</a:t>
            </a:r>
            <a:endParaRPr b="0" i="0" sz="16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" name="Google Shape;28;p1"/>
          <p:cNvSpPr/>
          <p:nvPr/>
        </p:nvSpPr>
        <p:spPr>
          <a:xfrm>
            <a:off x="6400800" y="4636008"/>
            <a:ext cx="256032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9AB8"/>
              </a:buClr>
              <a:buSzPts val="950"/>
              <a:buFont typeface="Calibri"/>
              <a:buNone/>
            </a:pPr>
            <a:r>
              <a:rPr b="0" i="0" lang="en-US" sz="950" u="none" cap="none" strike="noStrike">
                <a:solidFill>
                  <a:srgbClr val="7A9AB8"/>
                </a:solidFill>
                <a:latin typeface="Calibri"/>
                <a:ea typeface="Calibri"/>
                <a:cs typeface="Calibri"/>
                <a:sym typeface="Calibri"/>
              </a:rPr>
              <a:t>Tools You Can Use Tomorrow</a:t>
            </a:r>
            <a:endParaRPr b="0" i="0" sz="95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2"/>
          <p:cNvSpPr/>
          <p:nvPr/>
        </p:nvSpPr>
        <p:spPr>
          <a:xfrm>
            <a:off x="0" y="0"/>
            <a:ext cx="2926080" cy="5143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5" name="Google Shape;35;p2"/>
          <p:cNvSpPr/>
          <p:nvPr/>
        </p:nvSpPr>
        <p:spPr>
          <a:xfrm>
            <a:off x="2926080" y="0"/>
            <a:ext cx="45720" cy="514350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" name="Google Shape;36;p2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2"/>
          <p:cNvSpPr/>
          <p:nvPr/>
        </p:nvSpPr>
        <p:spPr>
          <a:xfrm>
            <a:off x="228600" y="256032"/>
            <a:ext cx="246888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01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" name="Google Shape;38;p2"/>
          <p:cNvSpPr/>
          <p:nvPr/>
        </p:nvSpPr>
        <p:spPr>
          <a:xfrm>
            <a:off x="256032" y="658368"/>
            <a:ext cx="2468880" cy="246888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Why Intuition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Still Matters—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And Where It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Georgia"/>
              <a:buNone/>
            </a:pPr>
            <a:r>
              <a:rPr b="1" lang="en-US" sz="2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Breaks Down</a:t>
            </a:r>
            <a:endParaRPr sz="2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" name="Google Shape;39;p2"/>
          <p:cNvSpPr/>
          <p:nvPr/>
        </p:nvSpPr>
        <p:spPr>
          <a:xfrm>
            <a:off x="256032" y="3200400"/>
            <a:ext cx="2423160" cy="1325880"/>
          </a:xfrm>
          <a:prstGeom prst="rect">
            <a:avLst/>
          </a:prstGeom>
          <a:solidFill>
            <a:srgbClr val="152033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" name="Google Shape;40;p2"/>
          <p:cNvSpPr/>
          <p:nvPr/>
        </p:nvSpPr>
        <p:spPr>
          <a:xfrm>
            <a:off x="347472" y="3291840"/>
            <a:ext cx="2240280" cy="10972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000"/>
              <a:buFont typeface="Calibri"/>
              <a:buNone/>
            </a:pPr>
            <a:r>
              <a:rPr i="1" lang="en-US" sz="10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“Leaders who rely solely on gut instinct make consistent, predictable errors— and AI makes those errors visible.”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1" name="Google Shape;41;p2"/>
          <p:cNvSpPr/>
          <p:nvPr/>
        </p:nvSpPr>
        <p:spPr>
          <a:xfrm>
            <a:off x="3200400" y="274320"/>
            <a:ext cx="566928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200"/>
              <a:buFont typeface="Georgia"/>
              <a:buNone/>
            </a:pPr>
            <a:r>
              <a:rPr b="1" lang="en-US" sz="2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The Truth About Senior Intuition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2"/>
          <p:cNvSpPr/>
          <p:nvPr/>
        </p:nvSpPr>
        <p:spPr>
          <a:xfrm>
            <a:off x="3200400" y="804672"/>
            <a:ext cx="5623560" cy="6400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Experience-based intuition is a genuine asset — decades of pattern recognition, context reading, and rapid synthesis. AI doesn't replace it. But three conditions consistently break it.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3" name="Google Shape;43;p2"/>
          <p:cNvSpPr/>
          <p:nvPr/>
        </p:nvSpPr>
        <p:spPr>
          <a:xfrm>
            <a:off x="3200400" y="1572768"/>
            <a:ext cx="56235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" name="Google Shape;44;p2"/>
          <p:cNvSpPr/>
          <p:nvPr/>
        </p:nvSpPr>
        <p:spPr>
          <a:xfrm>
            <a:off x="3200400" y="1572768"/>
            <a:ext cx="201168" cy="91440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5" name="Google Shape;45;p2"/>
          <p:cNvSpPr/>
          <p:nvPr/>
        </p:nvSpPr>
        <p:spPr>
          <a:xfrm>
            <a:off x="3520440" y="166420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Data Volume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" name="Google Shape;46;p2"/>
          <p:cNvSpPr/>
          <p:nvPr/>
        </p:nvSpPr>
        <p:spPr>
          <a:xfrm>
            <a:off x="3520440" y="1920240"/>
            <a:ext cx="5166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When the number of variables exceeds what working memory can hold, pattern recognition degrades — even for experts with 20+ years of experience.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7" name="Google Shape;47;p2"/>
          <p:cNvSpPr/>
          <p:nvPr/>
        </p:nvSpPr>
        <p:spPr>
          <a:xfrm>
            <a:off x="3200400" y="2624328"/>
            <a:ext cx="56235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2"/>
          <p:cNvSpPr/>
          <p:nvPr/>
        </p:nvSpPr>
        <p:spPr>
          <a:xfrm>
            <a:off x="3200400" y="2624328"/>
            <a:ext cx="201168" cy="91440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9" name="Google Shape;49;p2"/>
          <p:cNvSpPr/>
          <p:nvPr/>
        </p:nvSpPr>
        <p:spPr>
          <a:xfrm>
            <a:off x="3520440" y="271576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Confirmation Bias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2"/>
          <p:cNvSpPr/>
          <p:nvPr/>
        </p:nvSpPr>
        <p:spPr>
          <a:xfrm>
            <a:off x="3520440" y="2971800"/>
            <a:ext cx="5166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 more experienced the leader, the more confident the bias. Intuition selects evidence that confirms existing mental models, filtering out contradictory signals.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2"/>
          <p:cNvSpPr/>
          <p:nvPr/>
        </p:nvSpPr>
        <p:spPr>
          <a:xfrm>
            <a:off x="3200400" y="3675888"/>
            <a:ext cx="5623560" cy="9144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" name="Google Shape;52;p2"/>
          <p:cNvSpPr/>
          <p:nvPr/>
        </p:nvSpPr>
        <p:spPr>
          <a:xfrm>
            <a:off x="3200400" y="3675888"/>
            <a:ext cx="201168" cy="914400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" name="Google Shape;53;p2"/>
          <p:cNvSpPr/>
          <p:nvPr/>
        </p:nvSpPr>
        <p:spPr>
          <a:xfrm>
            <a:off x="3520440" y="3767328"/>
            <a:ext cx="512064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300"/>
              <a:buFont typeface="Calibri"/>
              <a:buNone/>
            </a:pPr>
            <a:r>
              <a:rPr b="1" lang="en-US" sz="130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Decision Velocity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4" name="Google Shape;54;p2"/>
          <p:cNvSpPr/>
          <p:nvPr/>
        </p:nvSpPr>
        <p:spPr>
          <a:xfrm>
            <a:off x="3520440" y="4023360"/>
            <a:ext cx="5166360" cy="51206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150"/>
              <a:buFont typeface="Calibri"/>
              <a:buNone/>
            </a:pPr>
            <a:r>
              <a:rPr lang="en-US" sz="11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 high-stakes, time-pressured situations, intuition reaches for the last pattern that worked — not necessarily the one that fits the current context.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5" name="Google Shape;55;p2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" name="Google Shape;56;p2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875"/>
              <a:buFont typeface="Calibri"/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accen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3" name="Google Shape;63;p3"/>
          <p:cNvSpPr/>
          <p:nvPr/>
        </p:nvSpPr>
        <p:spPr>
          <a:xfrm>
            <a:off x="365760" y="182880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" name="Google Shape;64;p3"/>
          <p:cNvSpPr/>
          <p:nvPr/>
        </p:nvSpPr>
        <p:spPr>
          <a:xfrm>
            <a:off x="365760" y="182880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02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5" name="Google Shape;65;p3"/>
          <p:cNvSpPr/>
          <p:nvPr/>
        </p:nvSpPr>
        <p:spPr>
          <a:xfrm>
            <a:off x="365760" y="502920"/>
            <a:ext cx="8412480" cy="54864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What AI Can See That You Can't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6" name="Google Shape;66;p3"/>
          <p:cNvSpPr/>
          <p:nvPr/>
        </p:nvSpPr>
        <p:spPr>
          <a:xfrm>
            <a:off x="365760" y="1115568"/>
            <a:ext cx="8412480" cy="38404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doesn't think faster — it sees differently. These four capabilities are genuinely complementary to senior leadership judgment.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67" name="Google Shape;67;p3"/>
          <p:cNvSpPr/>
          <p:nvPr/>
        </p:nvSpPr>
        <p:spPr>
          <a:xfrm>
            <a:off x="365760" y="16276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8" name="Google Shape;68;p3"/>
          <p:cNvSpPr/>
          <p:nvPr/>
        </p:nvSpPr>
        <p:spPr>
          <a:xfrm>
            <a:off x="365760" y="1627632"/>
            <a:ext cx="4206240" cy="6400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9" name="Google Shape;69;p3"/>
          <p:cNvSpPr/>
          <p:nvPr/>
        </p:nvSpPr>
        <p:spPr>
          <a:xfrm>
            <a:off x="3566160" y="1792224"/>
            <a:ext cx="868680" cy="50292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0" name="Google Shape;70;p3"/>
          <p:cNvSpPr/>
          <p:nvPr/>
        </p:nvSpPr>
        <p:spPr>
          <a:xfrm>
            <a:off x="3584448" y="17647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10,000×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1" name="Google Shape;71;p3"/>
          <p:cNvSpPr/>
          <p:nvPr/>
        </p:nvSpPr>
        <p:spPr>
          <a:xfrm>
            <a:off x="3429000" y="20299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more variables processed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2" name="Google Shape;72;p3"/>
          <p:cNvSpPr/>
          <p:nvPr/>
        </p:nvSpPr>
        <p:spPr>
          <a:xfrm>
            <a:off x="548640" y="17922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Pattern Recognition Across Scale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3" name="Google Shape;73;p3"/>
          <p:cNvSpPr/>
          <p:nvPr/>
        </p:nvSpPr>
        <p:spPr>
          <a:xfrm>
            <a:off x="548640" y="21396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processes millions of data points simultaneously — customer signals, market shifts, operational anomalies — that no human team could review in the same timeframe.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4" name="Google Shape;74;p3"/>
          <p:cNvSpPr/>
          <p:nvPr/>
        </p:nvSpPr>
        <p:spPr>
          <a:xfrm>
            <a:off x="4800600" y="16276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5" name="Google Shape;75;p3"/>
          <p:cNvSpPr/>
          <p:nvPr/>
        </p:nvSpPr>
        <p:spPr>
          <a:xfrm>
            <a:off x="4800600" y="1627632"/>
            <a:ext cx="4206240" cy="6400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6" name="Google Shape;76;p3"/>
          <p:cNvSpPr/>
          <p:nvPr/>
        </p:nvSpPr>
        <p:spPr>
          <a:xfrm>
            <a:off x="8001000" y="1792224"/>
            <a:ext cx="868680" cy="50292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3"/>
          <p:cNvSpPr/>
          <p:nvPr/>
        </p:nvSpPr>
        <p:spPr>
          <a:xfrm>
            <a:off x="8019288" y="17647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4–8 wks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8" name="Google Shape;78;p3"/>
          <p:cNvSpPr/>
          <p:nvPr/>
        </p:nvSpPr>
        <p:spPr>
          <a:xfrm>
            <a:off x="7863840" y="20299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earlier signal detection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9" name="Google Shape;79;p3"/>
          <p:cNvSpPr/>
          <p:nvPr/>
        </p:nvSpPr>
        <p:spPr>
          <a:xfrm>
            <a:off x="4983480" y="17922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Predictive Signals Before They Emerge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0" name="Google Shape;80;p3"/>
          <p:cNvSpPr/>
          <p:nvPr/>
        </p:nvSpPr>
        <p:spPr>
          <a:xfrm>
            <a:off x="4983480" y="21396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identifies leading indicators — the subtle correlations that precede outcomes by weeks or months — before they become visible in executive dashboards.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1" name="Google Shape;81;p3"/>
          <p:cNvSpPr/>
          <p:nvPr/>
        </p:nvSpPr>
        <p:spPr>
          <a:xfrm>
            <a:off x="365760" y="32278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3"/>
          <p:cNvSpPr/>
          <p:nvPr/>
        </p:nvSpPr>
        <p:spPr>
          <a:xfrm>
            <a:off x="365760" y="3227832"/>
            <a:ext cx="4206240" cy="6400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3"/>
          <p:cNvSpPr/>
          <p:nvPr/>
        </p:nvSpPr>
        <p:spPr>
          <a:xfrm>
            <a:off x="3566160" y="3392424"/>
            <a:ext cx="868680" cy="502920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4" name="Google Shape;84;p3"/>
          <p:cNvSpPr/>
          <p:nvPr/>
        </p:nvSpPr>
        <p:spPr>
          <a:xfrm>
            <a:off x="3584448" y="33649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100%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5" name="Google Shape;85;p3"/>
          <p:cNvSpPr/>
          <p:nvPr/>
        </p:nvSpPr>
        <p:spPr>
          <a:xfrm>
            <a:off x="3429000" y="3630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consistent across all cases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6" name="Google Shape;86;p3"/>
          <p:cNvSpPr/>
          <p:nvPr/>
        </p:nvSpPr>
        <p:spPr>
          <a:xfrm>
            <a:off x="548640" y="33924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Unbiased Historical Comparison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7" name="Google Shape;87;p3"/>
          <p:cNvSpPr/>
          <p:nvPr/>
        </p:nvSpPr>
        <p:spPr>
          <a:xfrm>
            <a:off x="548640" y="37398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applies the same analytical lens to every scenario, without recency bias, availability heuristics, or anchoring. It will tell you what the data says, not what you want to hear.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8" name="Google Shape;88;p3"/>
          <p:cNvSpPr/>
          <p:nvPr/>
        </p:nvSpPr>
        <p:spPr>
          <a:xfrm>
            <a:off x="4800600" y="3227832"/>
            <a:ext cx="4206240" cy="148132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3"/>
          <p:cNvSpPr/>
          <p:nvPr/>
        </p:nvSpPr>
        <p:spPr>
          <a:xfrm>
            <a:off x="4800600" y="3227832"/>
            <a:ext cx="4206240" cy="64008"/>
          </a:xfrm>
          <a:prstGeom prst="rect">
            <a:avLst/>
          </a:prstGeom>
          <a:solidFill>
            <a:srgbClr val="243555"/>
          </a:solidFill>
          <a:ln cap="flat" cmpd="sng" w="12700">
            <a:solidFill>
              <a:srgbClr val="243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3"/>
          <p:cNvSpPr/>
          <p:nvPr/>
        </p:nvSpPr>
        <p:spPr>
          <a:xfrm>
            <a:off x="8001000" y="3392424"/>
            <a:ext cx="868680" cy="502920"/>
          </a:xfrm>
          <a:prstGeom prst="rect">
            <a:avLst/>
          </a:prstGeom>
          <a:solidFill>
            <a:srgbClr val="243555"/>
          </a:solidFill>
          <a:ln cap="flat" cmpd="sng" w="12700">
            <a:solidFill>
              <a:srgbClr val="2435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3"/>
          <p:cNvSpPr/>
          <p:nvPr/>
        </p:nvSpPr>
        <p:spPr>
          <a:xfrm>
            <a:off x="8019288" y="3364992"/>
            <a:ext cx="82296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Georgia"/>
              <a:buNone/>
            </a:pPr>
            <a:r>
              <a:rPr b="1" lang="en-US" sz="1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12–50×</a:t>
            </a:r>
            <a:endParaRPr sz="1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3"/>
          <p:cNvSpPr/>
          <p:nvPr/>
        </p:nvSpPr>
        <p:spPr>
          <a:xfrm>
            <a:off x="7863840" y="3630168"/>
            <a:ext cx="10515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700"/>
              <a:buFont typeface="Calibri"/>
              <a:buNone/>
            </a:pPr>
            <a:r>
              <a:rPr lang="en-US" sz="7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more scenarios evaluated</a:t>
            </a:r>
            <a:endParaRPr sz="7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3" name="Google Shape;93;p3"/>
          <p:cNvSpPr/>
          <p:nvPr/>
        </p:nvSpPr>
        <p:spPr>
          <a:xfrm>
            <a:off x="4983480" y="3392424"/>
            <a:ext cx="292608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Scenario Modelling at Speed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4" name="Google Shape;94;p3"/>
          <p:cNvSpPr/>
          <p:nvPr/>
        </p:nvSpPr>
        <p:spPr>
          <a:xfrm>
            <a:off x="4983480" y="3739896"/>
            <a:ext cx="2971800" cy="8961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Instead of 2–3 options evaluated in a committee, AI can stress-test dozens of scenarios against your constraints before the first meeting starts.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5" name="Google Shape;95;p3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"/>
          <p:cNvSpPr/>
          <p:nvPr/>
        </p:nvSpPr>
        <p:spPr>
          <a:xfrm>
            <a:off x="5943600" y="2926080"/>
            <a:ext cx="4572000" cy="4572000"/>
          </a:xfrm>
          <a:prstGeom prst="ellipse">
            <a:avLst/>
          </a:prstGeom>
          <a:solidFill>
            <a:srgbClr val="1E3255"/>
          </a:solidFill>
          <a:ln cap="flat" cmpd="sng" w="12700">
            <a:solidFill>
              <a:srgbClr val="1E325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"/>
          <p:cNvSpPr/>
          <p:nvPr/>
        </p:nvSpPr>
        <p:spPr>
          <a:xfrm>
            <a:off x="6858000" y="1828800"/>
            <a:ext cx="2743200" cy="2743200"/>
          </a:xfrm>
          <a:prstGeom prst="ellipse">
            <a:avLst/>
          </a:prstGeom>
          <a:solidFill>
            <a:srgbClr val="243366"/>
          </a:solidFill>
          <a:ln cap="flat" cmpd="sng" w="12700">
            <a:solidFill>
              <a:srgbClr val="24336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4" name="Google Shape;104;p4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5" name="Google Shape;105;p4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03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/>
          <p:nvPr/>
        </p:nvSpPr>
        <p:spPr>
          <a:xfrm>
            <a:off x="365760" y="548640"/>
            <a:ext cx="7315200" cy="53035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400"/>
              <a:buFont typeface="Georgia"/>
              <a:buNone/>
            </a:pPr>
            <a:r>
              <a:rPr b="1" lang="en-US" sz="3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Decision Audit:</a:t>
            </a:r>
            <a:endParaRPr sz="3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7" name="Google Shape;107;p4"/>
          <p:cNvSpPr/>
          <p:nvPr/>
        </p:nvSpPr>
        <p:spPr>
          <a:xfrm>
            <a:off x="365760" y="1042416"/>
            <a:ext cx="6858000" cy="457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2600"/>
              <a:buFont typeface="Georgia"/>
              <a:buNone/>
            </a:pPr>
            <a:r>
              <a:rPr i="1" lang="en-US" sz="2600">
                <a:solidFill>
                  <a:srgbClr val="7AAAC8"/>
                </a:solidFill>
                <a:latin typeface="Georgia"/>
                <a:ea typeface="Georgia"/>
                <a:cs typeface="Georgia"/>
                <a:sym typeface="Georgia"/>
              </a:rPr>
              <a:t>Where Are You Flying Blind?</a:t>
            </a:r>
            <a:endParaRPr sz="2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8" name="Google Shape;108;p4"/>
          <p:cNvSpPr/>
          <p:nvPr/>
        </p:nvSpPr>
        <p:spPr>
          <a:xfrm>
            <a:off x="365760" y="1572768"/>
            <a:ext cx="640080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300"/>
              <a:buFont typeface="Calibri"/>
              <a:buNone/>
            </a:pPr>
            <a:r>
              <a:rPr lang="en-US" sz="13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 diagnostic exercise: map your top 5 recurring decisions against these two dimensions.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9" name="Google Shape;109;p4"/>
          <p:cNvSpPr/>
          <p:nvPr/>
        </p:nvSpPr>
        <p:spPr>
          <a:xfrm>
            <a:off x="365760" y="2057400"/>
            <a:ext cx="4160520" cy="41148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4"/>
          <p:cNvSpPr/>
          <p:nvPr/>
        </p:nvSpPr>
        <p:spPr>
          <a:xfrm>
            <a:off x="365760" y="205740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High Stakes + Low Data =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AI Priority Zone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1" name="Google Shape;111;p4"/>
          <p:cNvSpPr/>
          <p:nvPr/>
        </p:nvSpPr>
        <p:spPr>
          <a:xfrm>
            <a:off x="365760" y="248716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2" name="Google Shape;112;p4"/>
          <p:cNvSpPr/>
          <p:nvPr/>
        </p:nvSpPr>
        <p:spPr>
          <a:xfrm>
            <a:off x="502920" y="253288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Market entry / exit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4"/>
          <p:cNvSpPr/>
          <p:nvPr/>
        </p:nvSpPr>
        <p:spPr>
          <a:xfrm>
            <a:off x="502920" y="27249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Low data → AI maps competitive signals, macro trends, analogous cases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4" name="Google Shape;114;p4"/>
          <p:cNvSpPr/>
          <p:nvPr/>
        </p:nvSpPr>
        <p:spPr>
          <a:xfrm>
            <a:off x="365760" y="308152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5" name="Google Shape;115;p4"/>
          <p:cNvSpPr/>
          <p:nvPr/>
        </p:nvSpPr>
        <p:spPr>
          <a:xfrm>
            <a:off x="502920" y="31272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Talent acquisition at senior level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6" name="Google Shape;116;p4"/>
          <p:cNvSpPr/>
          <p:nvPr/>
        </p:nvSpPr>
        <p:spPr>
          <a:xfrm>
            <a:off x="502920" y="33192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Intuition dominates → AI benchmarks compensation, tenure risk, culture fit proxies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7" name="Google Shape;117;p4"/>
          <p:cNvSpPr/>
          <p:nvPr/>
        </p:nvSpPr>
        <p:spPr>
          <a:xfrm>
            <a:off x="365760" y="367588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8" name="Google Shape;118;p4"/>
          <p:cNvSpPr/>
          <p:nvPr/>
        </p:nvSpPr>
        <p:spPr>
          <a:xfrm>
            <a:off x="502920" y="37216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Capital allocation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9" name="Google Shape;119;p4"/>
          <p:cNvSpPr/>
          <p:nvPr/>
        </p:nvSpPr>
        <p:spPr>
          <a:xfrm>
            <a:off x="502920" y="39136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Recency bias risk → AI stress-tests against historical cycles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0" name="Google Shape;120;p4"/>
          <p:cNvSpPr/>
          <p:nvPr/>
        </p:nvSpPr>
        <p:spPr>
          <a:xfrm>
            <a:off x="365760" y="427024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"/>
          <p:cNvSpPr/>
          <p:nvPr/>
        </p:nvSpPr>
        <p:spPr>
          <a:xfrm>
            <a:off x="502920" y="43159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response under pressure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2" name="Google Shape;122;p4"/>
          <p:cNvSpPr/>
          <p:nvPr/>
        </p:nvSpPr>
        <p:spPr>
          <a:xfrm>
            <a:off x="502920" y="450799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Speed breaks intuition → AI pre-runs scenarios before the room convenes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4"/>
          <p:cNvSpPr/>
          <p:nvPr/>
        </p:nvSpPr>
        <p:spPr>
          <a:xfrm>
            <a:off x="4800600" y="2057400"/>
            <a:ext cx="4160520" cy="41148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4" name="Google Shape;124;p4"/>
          <p:cNvSpPr/>
          <p:nvPr/>
        </p:nvSpPr>
        <p:spPr>
          <a:xfrm>
            <a:off x="4800600" y="2057400"/>
            <a:ext cx="41605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76200" lIns="76200" spcFirstLastPara="1" rIns="76200" wrap="square" tIns="762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AI Already Helping Here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  (Often Unnoticed)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5" name="Google Shape;125;p4"/>
          <p:cNvSpPr/>
          <p:nvPr/>
        </p:nvSpPr>
        <p:spPr>
          <a:xfrm>
            <a:off x="4800600" y="248716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6" name="Google Shape;126;p4"/>
          <p:cNvSpPr/>
          <p:nvPr/>
        </p:nvSpPr>
        <p:spPr>
          <a:xfrm>
            <a:off x="4937760" y="253288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Pipeline forecasting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7" name="Google Shape;127;p4"/>
          <p:cNvSpPr/>
          <p:nvPr/>
        </p:nvSpPr>
        <p:spPr>
          <a:xfrm>
            <a:off x="4937760" y="272491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CRM AI is augmenting judgment — but is leadership reading the confidence intervals?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8" name="Google Shape;128;p4"/>
          <p:cNvSpPr/>
          <p:nvPr/>
        </p:nvSpPr>
        <p:spPr>
          <a:xfrm>
            <a:off x="4800600" y="308152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9" name="Google Shape;129;p4"/>
          <p:cNvSpPr/>
          <p:nvPr/>
        </p:nvSpPr>
        <p:spPr>
          <a:xfrm>
            <a:off x="4937760" y="312724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Pricing decisions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0" name="Google Shape;130;p4"/>
          <p:cNvSpPr/>
          <p:nvPr/>
        </p:nvSpPr>
        <p:spPr>
          <a:xfrm>
            <a:off x="4937760" y="331927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Revenue management AI runs continuously — does leadership review its assumptions?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1" name="Google Shape;131;p4"/>
          <p:cNvSpPr/>
          <p:nvPr/>
        </p:nvSpPr>
        <p:spPr>
          <a:xfrm>
            <a:off x="4800600" y="3675888"/>
            <a:ext cx="4160520" cy="54864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4"/>
          <p:cNvSpPr/>
          <p:nvPr/>
        </p:nvSpPr>
        <p:spPr>
          <a:xfrm>
            <a:off x="4937760" y="372160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Hiring funnel filtering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3" name="Google Shape;133;p4"/>
          <p:cNvSpPr/>
          <p:nvPr/>
        </p:nvSpPr>
        <p:spPr>
          <a:xfrm>
            <a:off x="4937760" y="391363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Screening AI is making first-pass cuts — do you know what it's optimising for?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4" name="Google Shape;134;p4"/>
          <p:cNvSpPr/>
          <p:nvPr/>
        </p:nvSpPr>
        <p:spPr>
          <a:xfrm>
            <a:off x="4800600" y="4270248"/>
            <a:ext cx="4160520" cy="548640"/>
          </a:xfrm>
          <a:prstGeom prst="rect">
            <a:avLst/>
          </a:prstGeom>
          <a:solidFill>
            <a:srgbClr val="1A2A42"/>
          </a:solidFill>
          <a:ln cap="flat" cmpd="sng" w="12700">
            <a:solidFill>
              <a:srgbClr val="2A3F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4"/>
          <p:cNvSpPr/>
          <p:nvPr/>
        </p:nvSpPr>
        <p:spPr>
          <a:xfrm>
            <a:off x="4937760" y="4315968"/>
            <a:ext cx="384048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00"/>
              <a:buFont typeface="Calibri"/>
              <a:buNone/>
            </a:pPr>
            <a:r>
              <a:rPr b="1" lang="en-US" sz="11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Customer churn prediction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6" name="Google Shape;136;p4"/>
          <p:cNvSpPr/>
          <p:nvPr/>
        </p:nvSpPr>
        <p:spPr>
          <a:xfrm>
            <a:off x="4937760" y="4507992"/>
            <a:ext cx="38862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Your CS platform flags risk — how often does leadership act on the signal vs. gut?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4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4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5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5" name="Google Shape;145;p5"/>
          <p:cNvSpPr/>
          <p:nvPr/>
        </p:nvSpPr>
        <p:spPr>
          <a:xfrm>
            <a:off x="365760" y="128016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5"/>
          <p:cNvSpPr/>
          <p:nvPr/>
        </p:nvSpPr>
        <p:spPr>
          <a:xfrm>
            <a:off x="365760" y="128016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04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7" name="Google Shape;147;p5"/>
          <p:cNvSpPr/>
          <p:nvPr/>
        </p:nvSpPr>
        <p:spPr>
          <a:xfrm>
            <a:off x="2286000" y="91440"/>
            <a:ext cx="6492240" cy="32918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Three Decision Types &amp; How AI Changes Each One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8" name="Google Shape;148;p5"/>
          <p:cNvSpPr/>
          <p:nvPr/>
        </p:nvSpPr>
        <p:spPr>
          <a:xfrm>
            <a:off x="365760" y="658368"/>
            <a:ext cx="8412480" cy="34747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50"/>
              <a:buFont typeface="Calibri"/>
              <a:buNone/>
            </a:pPr>
            <a:r>
              <a:rPr lang="en-US" sz="13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Not all decisions benefit from AI equally. Matching the tool to the decision type is the senior leader's core skill.</a:t>
            </a:r>
            <a:endParaRPr sz="13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9" name="Google Shape;149;p5"/>
          <p:cNvSpPr/>
          <p:nvPr/>
        </p:nvSpPr>
        <p:spPr>
          <a:xfrm>
            <a:off x="32004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0" name="Google Shape;150;p5"/>
          <p:cNvSpPr/>
          <p:nvPr/>
        </p:nvSpPr>
        <p:spPr>
          <a:xfrm>
            <a:off x="320040" y="1115568"/>
            <a:ext cx="2651760" cy="65836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1" name="Google Shape;151;p5"/>
          <p:cNvSpPr/>
          <p:nvPr/>
        </p:nvSpPr>
        <p:spPr>
          <a:xfrm>
            <a:off x="457200" y="11612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1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2" name="Google Shape;152;p5"/>
          <p:cNvSpPr/>
          <p:nvPr/>
        </p:nvSpPr>
        <p:spPr>
          <a:xfrm>
            <a:off x="457200" y="13350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Reversible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Routine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3" name="Google Shape;153;p5"/>
          <p:cNvSpPr/>
          <p:nvPr/>
        </p:nvSpPr>
        <p:spPr>
          <a:xfrm>
            <a:off x="457200" y="1865376"/>
            <a:ext cx="2377440" cy="237744"/>
          </a:xfrm>
          <a:prstGeom prst="rect">
            <a:avLst/>
          </a:prstGeom>
          <a:solidFill>
            <a:srgbClr val="E0F4F6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5"/>
          <p:cNvSpPr/>
          <p:nvPr/>
        </p:nvSpPr>
        <p:spPr>
          <a:xfrm>
            <a:off x="45720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Automate or delegate to AI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5" name="Google Shape;155;p5"/>
          <p:cNvSpPr/>
          <p:nvPr/>
        </p:nvSpPr>
        <p:spPr>
          <a:xfrm>
            <a:off x="457200" y="2176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6" name="Google Shape;156;p5"/>
          <p:cNvSpPr/>
          <p:nvPr/>
        </p:nvSpPr>
        <p:spPr>
          <a:xfrm>
            <a:off x="457200" y="235915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Scheduling, standard approvals, routine procurement, repetitive analysis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5"/>
          <p:cNvSpPr/>
          <p:nvPr/>
        </p:nvSpPr>
        <p:spPr>
          <a:xfrm>
            <a:off x="457200" y="283464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AI does: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5"/>
          <p:cNvSpPr/>
          <p:nvPr/>
        </p:nvSpPr>
        <p:spPr>
          <a:xfrm>
            <a:off x="457200" y="3017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handles end-to-end — leadership sets policy and reviews exceptions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9" name="Google Shape;159;p5"/>
          <p:cNvSpPr/>
          <p:nvPr/>
        </p:nvSpPr>
        <p:spPr>
          <a:xfrm>
            <a:off x="457200" y="349300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0" name="Google Shape;160;p5"/>
          <p:cNvSpPr/>
          <p:nvPr/>
        </p:nvSpPr>
        <p:spPr>
          <a:xfrm>
            <a:off x="457200" y="36758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Define the decision rules; review anomalies only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1" name="Google Shape;161;p5"/>
          <p:cNvSpPr/>
          <p:nvPr/>
        </p:nvSpPr>
        <p:spPr>
          <a:xfrm>
            <a:off x="457200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Key risk: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2" name="Google Shape;162;p5"/>
          <p:cNvSpPr/>
          <p:nvPr/>
        </p:nvSpPr>
        <p:spPr>
          <a:xfrm>
            <a:off x="457200" y="433425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Under-delegating — wasting leadership bandwidth on decisions AI handles better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3" name="Google Shape;163;p5"/>
          <p:cNvSpPr/>
          <p:nvPr/>
        </p:nvSpPr>
        <p:spPr>
          <a:xfrm>
            <a:off x="315468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4" name="Google Shape;164;p5"/>
          <p:cNvSpPr/>
          <p:nvPr/>
        </p:nvSpPr>
        <p:spPr>
          <a:xfrm>
            <a:off x="3154680" y="1115568"/>
            <a:ext cx="2651760" cy="65836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5" name="Google Shape;165;p5"/>
          <p:cNvSpPr/>
          <p:nvPr/>
        </p:nvSpPr>
        <p:spPr>
          <a:xfrm>
            <a:off x="3291840" y="11612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6" name="Google Shape;166;p5"/>
          <p:cNvSpPr/>
          <p:nvPr/>
        </p:nvSpPr>
        <p:spPr>
          <a:xfrm>
            <a:off x="3291840" y="13350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Structured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High-Stakes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7" name="Google Shape;167;p5"/>
          <p:cNvSpPr/>
          <p:nvPr/>
        </p:nvSpPr>
        <p:spPr>
          <a:xfrm>
            <a:off x="3291840" y="1865376"/>
            <a:ext cx="2377440" cy="237744"/>
          </a:xfrm>
          <a:prstGeom prst="rect">
            <a:avLst/>
          </a:prstGeom>
          <a:solidFill>
            <a:srgbClr val="FDEEE9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8" name="Google Shape;168;p5"/>
          <p:cNvSpPr/>
          <p:nvPr/>
        </p:nvSpPr>
        <p:spPr>
          <a:xfrm>
            <a:off x="329184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AI informs, leader decides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69" name="Google Shape;169;p5"/>
          <p:cNvSpPr/>
          <p:nvPr/>
        </p:nvSpPr>
        <p:spPr>
          <a:xfrm>
            <a:off x="3291840" y="2176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0" name="Google Shape;170;p5"/>
          <p:cNvSpPr/>
          <p:nvPr/>
        </p:nvSpPr>
        <p:spPr>
          <a:xfrm>
            <a:off x="3291840" y="235915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Pricing strategy, hiring senior roles, capital allocation, vendor selection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1" name="Google Shape;171;p5"/>
          <p:cNvSpPr/>
          <p:nvPr/>
        </p:nvSpPr>
        <p:spPr>
          <a:xfrm>
            <a:off x="3291840" y="283464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AI does: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5"/>
          <p:cNvSpPr/>
          <p:nvPr/>
        </p:nvSpPr>
        <p:spPr>
          <a:xfrm>
            <a:off x="3291840" y="3017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Surfaces options, stress-tests assumptions, quantifies risk — but doesn't choose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3" name="Google Shape;173;p5"/>
          <p:cNvSpPr/>
          <p:nvPr/>
        </p:nvSpPr>
        <p:spPr>
          <a:xfrm>
            <a:off x="3291840" y="349300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4" name="Google Shape;174;p5"/>
          <p:cNvSpPr/>
          <p:nvPr/>
        </p:nvSpPr>
        <p:spPr>
          <a:xfrm>
            <a:off x="3291840" y="36758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Interrogate the AI output; make the call with augmented information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5" name="Google Shape;175;p5"/>
          <p:cNvSpPr/>
          <p:nvPr/>
        </p:nvSpPr>
        <p:spPr>
          <a:xfrm>
            <a:off x="3291840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E84A2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E84A2F"/>
                </a:solidFill>
                <a:latin typeface="Calibri"/>
                <a:ea typeface="Calibri"/>
                <a:cs typeface="Calibri"/>
                <a:sym typeface="Calibri"/>
              </a:rPr>
              <a:t>Key risk: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6" name="Google Shape;176;p5"/>
          <p:cNvSpPr/>
          <p:nvPr/>
        </p:nvSpPr>
        <p:spPr>
          <a:xfrm>
            <a:off x="3291840" y="433425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Rubber-stamping AI recommendations without exercising independent judgment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7" name="Google Shape;177;p5"/>
          <p:cNvSpPr/>
          <p:nvPr/>
        </p:nvSpPr>
        <p:spPr>
          <a:xfrm>
            <a:off x="5989320" y="1115568"/>
            <a:ext cx="2651760" cy="365760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8" name="Google Shape;178;p5"/>
          <p:cNvSpPr/>
          <p:nvPr/>
        </p:nvSpPr>
        <p:spPr>
          <a:xfrm>
            <a:off x="5989320" y="1115568"/>
            <a:ext cx="2651760" cy="65836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9" name="Google Shape;179;p5"/>
          <p:cNvSpPr/>
          <p:nvPr/>
        </p:nvSpPr>
        <p:spPr>
          <a:xfrm>
            <a:off x="6126480" y="1161288"/>
            <a:ext cx="237744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Type 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0" name="Google Shape;180;p5"/>
          <p:cNvSpPr/>
          <p:nvPr/>
        </p:nvSpPr>
        <p:spPr>
          <a:xfrm>
            <a:off x="6126480" y="1335024"/>
            <a:ext cx="237744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Ambiguous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600"/>
              <a:buFont typeface="Georgia"/>
              <a:buNone/>
            </a:pPr>
            <a:r>
              <a:rPr b="1" lang="en-US" sz="16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&amp; Novel</a:t>
            </a:r>
            <a:endParaRPr sz="16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1" name="Google Shape;181;p5"/>
          <p:cNvSpPr/>
          <p:nvPr/>
        </p:nvSpPr>
        <p:spPr>
          <a:xfrm>
            <a:off x="6126480" y="1865376"/>
            <a:ext cx="2377440" cy="237744"/>
          </a:xfrm>
          <a:prstGeom prst="rect">
            <a:avLst/>
          </a:prstGeom>
          <a:solidFill>
            <a:srgbClr val="FDF4E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2" name="Google Shape;182;p5"/>
          <p:cNvSpPr/>
          <p:nvPr/>
        </p:nvSpPr>
        <p:spPr>
          <a:xfrm>
            <a:off x="6126480" y="1865376"/>
            <a:ext cx="237744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1000"/>
              <a:buFont typeface="Calibri"/>
              <a:buNone/>
            </a:pPr>
            <a:r>
              <a:rPr b="1" lang="en-US" sz="100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Leader leads, AI assists</a:t>
            </a:r>
            <a:endParaRPr sz="1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3" name="Google Shape;183;p5"/>
          <p:cNvSpPr/>
          <p:nvPr/>
        </p:nvSpPr>
        <p:spPr>
          <a:xfrm>
            <a:off x="6126480" y="2176272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Examples: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4" name="Google Shape;184;p5"/>
          <p:cNvSpPr/>
          <p:nvPr/>
        </p:nvSpPr>
        <p:spPr>
          <a:xfrm>
            <a:off x="6126480" y="2359152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Strategic pivots, culture decisions, crisis response, stakeholder negotiations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5" name="Google Shape;185;p5"/>
          <p:cNvSpPr/>
          <p:nvPr/>
        </p:nvSpPr>
        <p:spPr>
          <a:xfrm>
            <a:off x="6126480" y="2834640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AI does: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6" name="Google Shape;186;p5"/>
          <p:cNvSpPr/>
          <p:nvPr/>
        </p:nvSpPr>
        <p:spPr>
          <a:xfrm>
            <a:off x="6126480" y="3017520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Provides analogous cases, scenario modelling, risk framing — context only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7" name="Google Shape;187;p5"/>
          <p:cNvSpPr/>
          <p:nvPr/>
        </p:nvSpPr>
        <p:spPr>
          <a:xfrm>
            <a:off x="6126480" y="3493008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Your role: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8" name="Google Shape;188;p5"/>
          <p:cNvSpPr/>
          <p:nvPr/>
        </p:nvSpPr>
        <p:spPr>
          <a:xfrm>
            <a:off x="6126480" y="3675888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AI output is one input among many; final judgment is irreducibly human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5"/>
          <p:cNvSpPr/>
          <p:nvPr/>
        </p:nvSpPr>
        <p:spPr>
          <a:xfrm>
            <a:off x="6126480" y="4151376"/>
            <a:ext cx="237744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C08A20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C08A20"/>
                </a:solidFill>
                <a:latin typeface="Calibri"/>
                <a:ea typeface="Calibri"/>
                <a:cs typeface="Calibri"/>
                <a:sym typeface="Calibri"/>
              </a:rPr>
              <a:t>Key risk: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0" name="Google Shape;190;p5"/>
          <p:cNvSpPr/>
          <p:nvPr/>
        </p:nvSpPr>
        <p:spPr>
          <a:xfrm>
            <a:off x="6126480" y="4334256"/>
            <a:ext cx="2377440" cy="42062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950"/>
              <a:buFont typeface="Calibri"/>
              <a:buNone/>
            </a:pPr>
            <a:r>
              <a:rPr lang="en-US" sz="9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Over-relying on AI in situations that require contextual wisdom AI cannot have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1" name="Google Shape;191;p5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2" name="Google Shape;192;p5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6"/>
          <p:cNvSpPr/>
          <p:nvPr/>
        </p:nvSpPr>
        <p:spPr>
          <a:xfrm>
            <a:off x="0" y="0"/>
            <a:ext cx="3108960" cy="5143500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6"/>
          <p:cNvSpPr/>
          <p:nvPr/>
        </p:nvSpPr>
        <p:spPr>
          <a:xfrm>
            <a:off x="3108960" y="0"/>
            <a:ext cx="54864" cy="5143500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6"/>
          <p:cNvSpPr/>
          <p:nvPr/>
        </p:nvSpPr>
        <p:spPr>
          <a:xfrm>
            <a:off x="228600" y="256032"/>
            <a:ext cx="26517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6"/>
          <p:cNvSpPr/>
          <p:nvPr/>
        </p:nvSpPr>
        <p:spPr>
          <a:xfrm>
            <a:off x="228600" y="256032"/>
            <a:ext cx="26517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05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2" name="Google Shape;202;p6"/>
          <p:cNvSpPr/>
          <p:nvPr/>
        </p:nvSpPr>
        <p:spPr>
          <a:xfrm>
            <a:off x="256032" y="658368"/>
            <a:ext cx="2606040" cy="25603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Cognitive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Biases AI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Exposes in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Leadership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400"/>
              <a:buFont typeface="Georgia"/>
              <a:buNone/>
            </a:pPr>
            <a:r>
              <a:rPr b="1" lang="en-US" sz="24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Decisions</a:t>
            </a:r>
            <a:endParaRPr sz="24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3" name="Google Shape;203;p6"/>
          <p:cNvSpPr/>
          <p:nvPr/>
        </p:nvSpPr>
        <p:spPr>
          <a:xfrm>
            <a:off x="256032" y="3310128"/>
            <a:ext cx="260604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Self-awareness is the first step.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AI makes these patterns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50"/>
              <a:buFont typeface="Calibri"/>
              <a:buNone/>
            </a:pPr>
            <a:r>
              <a:rPr i="1" lang="en-US" sz="11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legible for the first time.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4" name="Google Shape;204;p6"/>
          <p:cNvSpPr/>
          <p:nvPr/>
        </p:nvSpPr>
        <p:spPr>
          <a:xfrm>
            <a:off x="3337560" y="228600"/>
            <a:ext cx="5532120" cy="4114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800"/>
              <a:buFont typeface="Georgia"/>
              <a:buNone/>
            </a:pPr>
            <a:r>
              <a:rPr b="1" lang="en-US" sz="18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The 5 Biases Most Common in Senior Decision-Making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6"/>
          <p:cNvSpPr/>
          <p:nvPr/>
        </p:nvSpPr>
        <p:spPr>
          <a:xfrm>
            <a:off x="3337560" y="694944"/>
            <a:ext cx="553212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200"/>
              <a:buFont typeface="Calibri"/>
              <a:buNone/>
            </a:pPr>
            <a:r>
              <a:rPr lang="en-US" sz="12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These are not character flaws — they are cognitive features. AI exposes them by doing something leaders cannot: applying identical logic to every data point, every time.</a:t>
            </a:r>
            <a:endParaRPr sz="1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6" name="Google Shape;206;p6"/>
          <p:cNvSpPr/>
          <p:nvPr/>
        </p:nvSpPr>
        <p:spPr>
          <a:xfrm>
            <a:off x="3337560" y="1207008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6"/>
          <p:cNvSpPr/>
          <p:nvPr/>
        </p:nvSpPr>
        <p:spPr>
          <a:xfrm>
            <a:off x="3337560" y="1207008"/>
            <a:ext cx="164592" cy="65836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6"/>
          <p:cNvSpPr/>
          <p:nvPr/>
        </p:nvSpPr>
        <p:spPr>
          <a:xfrm>
            <a:off x="3611880" y="1271016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Confirmation Bias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9" name="Google Shape;209;p6"/>
          <p:cNvSpPr/>
          <p:nvPr/>
        </p:nvSpPr>
        <p:spPr>
          <a:xfrm>
            <a:off x="3611880" y="1490472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Seeking information that confirms what you already believe. AI surfaces the contradictory evidence you would naturally overlook.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0" name="Google Shape;210;p6"/>
          <p:cNvSpPr/>
          <p:nvPr/>
        </p:nvSpPr>
        <p:spPr>
          <a:xfrm>
            <a:off x="3337560" y="1956816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6"/>
          <p:cNvSpPr/>
          <p:nvPr/>
        </p:nvSpPr>
        <p:spPr>
          <a:xfrm>
            <a:off x="3337560" y="1956816"/>
            <a:ext cx="164592" cy="65836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2" name="Google Shape;212;p6"/>
          <p:cNvSpPr/>
          <p:nvPr/>
        </p:nvSpPr>
        <p:spPr>
          <a:xfrm>
            <a:off x="3611880" y="2020824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Availability Heuristic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6"/>
          <p:cNvSpPr/>
          <p:nvPr/>
        </p:nvSpPr>
        <p:spPr>
          <a:xfrm>
            <a:off x="3611880" y="2240280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Overweighting the most recent or memorable event. AI weights all historical data equally — it has no recency bias.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6"/>
          <p:cNvSpPr/>
          <p:nvPr/>
        </p:nvSpPr>
        <p:spPr>
          <a:xfrm>
            <a:off x="3337560" y="2706624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6"/>
          <p:cNvSpPr/>
          <p:nvPr/>
        </p:nvSpPr>
        <p:spPr>
          <a:xfrm>
            <a:off x="3337560" y="2706624"/>
            <a:ext cx="164592" cy="65836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6" name="Google Shape;216;p6"/>
          <p:cNvSpPr/>
          <p:nvPr/>
        </p:nvSpPr>
        <p:spPr>
          <a:xfrm>
            <a:off x="3611880" y="2770632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Anchoring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7" name="Google Shape;217;p6"/>
          <p:cNvSpPr/>
          <p:nvPr/>
        </p:nvSpPr>
        <p:spPr>
          <a:xfrm>
            <a:off x="3611880" y="2990088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Over-relying on the first number or option presented. AI starts from distributional averages, not from your opening position.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8" name="Google Shape;218;p6"/>
          <p:cNvSpPr/>
          <p:nvPr/>
        </p:nvSpPr>
        <p:spPr>
          <a:xfrm>
            <a:off x="3337560" y="3456432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9" name="Google Shape;219;p6"/>
          <p:cNvSpPr/>
          <p:nvPr/>
        </p:nvSpPr>
        <p:spPr>
          <a:xfrm>
            <a:off x="3337560" y="3456432"/>
            <a:ext cx="164592" cy="658368"/>
          </a:xfrm>
          <a:prstGeom prst="rect">
            <a:avLst/>
          </a:prstGeom>
          <a:solidFill>
            <a:srgbClr val="7B3FA0"/>
          </a:solidFill>
          <a:ln cap="flat" cmpd="sng" w="12700">
            <a:solidFill>
              <a:srgbClr val="7B3FA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0" name="Google Shape;220;p6"/>
          <p:cNvSpPr/>
          <p:nvPr/>
        </p:nvSpPr>
        <p:spPr>
          <a:xfrm>
            <a:off x="3611880" y="3520440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Overconfidence Effect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1" name="Google Shape;221;p6"/>
          <p:cNvSpPr/>
          <p:nvPr/>
        </p:nvSpPr>
        <p:spPr>
          <a:xfrm>
            <a:off x="3611880" y="3739896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Senior leaders are statistically overconfident in their predictions. AI provides probability distributions, not point predictions.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6"/>
          <p:cNvSpPr/>
          <p:nvPr/>
        </p:nvSpPr>
        <p:spPr>
          <a:xfrm>
            <a:off x="3337560" y="4206240"/>
            <a:ext cx="5532120" cy="658368"/>
          </a:xfrm>
          <a:prstGeom prst="rect">
            <a:avLst/>
          </a:prstGeom>
          <a:solidFill>
            <a:srgbClr val="F0F4F8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3" name="Google Shape;223;p6"/>
          <p:cNvSpPr/>
          <p:nvPr/>
        </p:nvSpPr>
        <p:spPr>
          <a:xfrm>
            <a:off x="3337560" y="4206240"/>
            <a:ext cx="164592" cy="658368"/>
          </a:xfrm>
          <a:prstGeom prst="rect">
            <a:avLst/>
          </a:prstGeom>
          <a:solidFill>
            <a:srgbClr val="1A7A5E"/>
          </a:solidFill>
          <a:ln cap="flat" cmpd="sng" w="12700">
            <a:solidFill>
              <a:srgbClr val="1A7A5E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4" name="Google Shape;224;p6"/>
          <p:cNvSpPr/>
          <p:nvPr/>
        </p:nvSpPr>
        <p:spPr>
          <a:xfrm>
            <a:off x="3611880" y="4270248"/>
            <a:ext cx="50292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1B2A4A"/>
                </a:solidFill>
                <a:latin typeface="Calibri"/>
                <a:ea typeface="Calibri"/>
                <a:cs typeface="Calibri"/>
                <a:sym typeface="Calibri"/>
              </a:rPr>
              <a:t>Sunk Cost Fallacy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5" name="Google Shape;225;p6"/>
          <p:cNvSpPr/>
          <p:nvPr/>
        </p:nvSpPr>
        <p:spPr>
          <a:xfrm>
            <a:off x="3611880" y="4489704"/>
            <a:ext cx="512064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Continuing a failing course because of past investment. AI optimises from current state forward — it has no emotional stake in sunk costs.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6" name="Google Shape;226;p6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7" name="Google Shape;227;p6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8F9FA"/>
        </a:soli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7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7"/>
          <p:cNvSpPr/>
          <p:nvPr/>
        </p:nvSpPr>
        <p:spPr>
          <a:xfrm>
            <a:off x="365760" y="164592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5" name="Google Shape;235;p7"/>
          <p:cNvSpPr/>
          <p:nvPr/>
        </p:nvSpPr>
        <p:spPr>
          <a:xfrm>
            <a:off x="365760" y="164592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06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6" name="Google Shape;236;p7"/>
          <p:cNvSpPr/>
          <p:nvPr/>
        </p:nvSpPr>
        <p:spPr>
          <a:xfrm>
            <a:off x="365760" y="493776"/>
            <a:ext cx="8412480" cy="47548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1B2A4A"/>
              </a:buClr>
              <a:buSzPts val="2800"/>
              <a:buFont typeface="Georgia"/>
              <a:buNone/>
            </a:pPr>
            <a:r>
              <a:rPr b="1" lang="en-US" sz="2800">
                <a:solidFill>
                  <a:srgbClr val="1B2A4A"/>
                </a:solidFill>
                <a:latin typeface="Georgia"/>
                <a:ea typeface="Georgia"/>
                <a:cs typeface="Georgia"/>
                <a:sym typeface="Georgia"/>
              </a:rPr>
              <a:t>Your 30-Day Decision Intelligence Sprint</a:t>
            </a:r>
            <a:endParaRPr sz="2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7" name="Google Shape;237;p7"/>
          <p:cNvSpPr/>
          <p:nvPr/>
        </p:nvSpPr>
        <p:spPr>
          <a:xfrm>
            <a:off x="365760" y="1024128"/>
            <a:ext cx="8412480" cy="31089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300"/>
              <a:buFont typeface="Calibri"/>
              <a:buNone/>
            </a:pPr>
            <a:r>
              <a:rPr i="1" lang="en-US" sz="130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Three concrete actions to shift from intuition-default to evidence-augmented.</a:t>
            </a:r>
            <a:endParaRPr sz="13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8" name="Google Shape;238;p7"/>
          <p:cNvSpPr/>
          <p:nvPr/>
        </p:nvSpPr>
        <p:spPr>
          <a:xfrm>
            <a:off x="365760" y="1426464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7"/>
          <p:cNvSpPr/>
          <p:nvPr/>
        </p:nvSpPr>
        <p:spPr>
          <a:xfrm>
            <a:off x="365760" y="1426464"/>
            <a:ext cx="2697480" cy="475488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0" name="Google Shape;240;p7"/>
          <p:cNvSpPr/>
          <p:nvPr/>
        </p:nvSpPr>
        <p:spPr>
          <a:xfrm>
            <a:off x="502920" y="14630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1–2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1" name="Google Shape;241;p7"/>
          <p:cNvSpPr/>
          <p:nvPr/>
        </p:nvSpPr>
        <p:spPr>
          <a:xfrm>
            <a:off x="502920" y="1627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Run a Decision Audit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2" name="Google Shape;242;p7"/>
          <p:cNvSpPr/>
          <p:nvPr/>
        </p:nvSpPr>
        <p:spPr>
          <a:xfrm>
            <a:off x="530352" y="2057400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3" name="Google Shape;243;p7"/>
          <p:cNvSpPr/>
          <p:nvPr/>
        </p:nvSpPr>
        <p:spPr>
          <a:xfrm>
            <a:off x="530352" y="2057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4" name="Google Shape;244;p7"/>
          <p:cNvSpPr/>
          <p:nvPr/>
        </p:nvSpPr>
        <p:spPr>
          <a:xfrm>
            <a:off x="822960" y="20391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List your 10 most frequent decisions in the last 90 days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5" name="Google Shape;245;p7"/>
          <p:cNvSpPr/>
          <p:nvPr/>
        </p:nvSpPr>
        <p:spPr>
          <a:xfrm>
            <a:off x="530352" y="2734056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6" name="Google Shape;246;p7"/>
          <p:cNvSpPr/>
          <p:nvPr/>
        </p:nvSpPr>
        <p:spPr>
          <a:xfrm>
            <a:off x="530352" y="27340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7" name="Google Shape;247;p7"/>
          <p:cNvSpPr/>
          <p:nvPr/>
        </p:nvSpPr>
        <p:spPr>
          <a:xfrm>
            <a:off x="822960" y="27157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Categorise each as Type 1, 2, or 3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8" name="Google Shape;248;p7"/>
          <p:cNvSpPr/>
          <p:nvPr/>
        </p:nvSpPr>
        <p:spPr>
          <a:xfrm>
            <a:off x="530352" y="3410712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7"/>
          <p:cNvSpPr/>
          <p:nvPr/>
        </p:nvSpPr>
        <p:spPr>
          <a:xfrm>
            <a:off x="530352" y="34107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0" name="Google Shape;250;p7"/>
          <p:cNvSpPr/>
          <p:nvPr/>
        </p:nvSpPr>
        <p:spPr>
          <a:xfrm>
            <a:off x="822960" y="3392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Identify where data exists but you haven't been consulting it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1" name="Google Shape;251;p7"/>
          <p:cNvSpPr/>
          <p:nvPr/>
        </p:nvSpPr>
        <p:spPr>
          <a:xfrm>
            <a:off x="530352" y="4087368"/>
            <a:ext cx="201168" cy="201168"/>
          </a:xfrm>
          <a:prstGeom prst="ellipse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2" name="Google Shape;252;p7"/>
          <p:cNvSpPr/>
          <p:nvPr/>
        </p:nvSpPr>
        <p:spPr>
          <a:xfrm>
            <a:off x="530352" y="4087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3" name="Google Shape;253;p7"/>
          <p:cNvSpPr/>
          <p:nvPr/>
        </p:nvSpPr>
        <p:spPr>
          <a:xfrm>
            <a:off x="822960" y="4069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Mark 3 decisions where bias risk is highest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4" name="Google Shape;254;p7"/>
          <p:cNvSpPr/>
          <p:nvPr/>
        </p:nvSpPr>
        <p:spPr>
          <a:xfrm>
            <a:off x="3218688" y="1426464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5" name="Google Shape;255;p7"/>
          <p:cNvSpPr/>
          <p:nvPr/>
        </p:nvSpPr>
        <p:spPr>
          <a:xfrm>
            <a:off x="3218688" y="1426464"/>
            <a:ext cx="2697480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6" name="Google Shape;256;p7"/>
          <p:cNvSpPr/>
          <p:nvPr/>
        </p:nvSpPr>
        <p:spPr>
          <a:xfrm>
            <a:off x="3355848" y="14630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3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7" name="Google Shape;257;p7"/>
          <p:cNvSpPr/>
          <p:nvPr/>
        </p:nvSpPr>
        <p:spPr>
          <a:xfrm>
            <a:off x="3355848" y="1627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Pick One Decision to Augment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58" name="Google Shape;258;p7"/>
          <p:cNvSpPr/>
          <p:nvPr/>
        </p:nvSpPr>
        <p:spPr>
          <a:xfrm>
            <a:off x="3383280" y="2057400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7"/>
          <p:cNvSpPr/>
          <p:nvPr/>
        </p:nvSpPr>
        <p:spPr>
          <a:xfrm>
            <a:off x="3383280" y="2057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7"/>
          <p:cNvSpPr/>
          <p:nvPr/>
        </p:nvSpPr>
        <p:spPr>
          <a:xfrm>
            <a:off x="3675888" y="20391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Choose one recurring Type 2 decision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1" name="Google Shape;261;p7"/>
          <p:cNvSpPr/>
          <p:nvPr/>
        </p:nvSpPr>
        <p:spPr>
          <a:xfrm>
            <a:off x="3383280" y="2734056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7"/>
          <p:cNvSpPr/>
          <p:nvPr/>
        </p:nvSpPr>
        <p:spPr>
          <a:xfrm>
            <a:off x="3383280" y="27340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3" name="Google Shape;263;p7"/>
          <p:cNvSpPr/>
          <p:nvPr/>
        </p:nvSpPr>
        <p:spPr>
          <a:xfrm>
            <a:off x="3675888" y="27157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Ask your analytics team: what data should inform this?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4" name="Google Shape;264;p7"/>
          <p:cNvSpPr/>
          <p:nvPr/>
        </p:nvSpPr>
        <p:spPr>
          <a:xfrm>
            <a:off x="3383280" y="3410712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5" name="Google Shape;265;p7"/>
          <p:cNvSpPr/>
          <p:nvPr/>
        </p:nvSpPr>
        <p:spPr>
          <a:xfrm>
            <a:off x="3383280" y="34107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6" name="Google Shape;266;p7"/>
          <p:cNvSpPr/>
          <p:nvPr/>
        </p:nvSpPr>
        <p:spPr>
          <a:xfrm>
            <a:off x="3675888" y="3392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Receive a simple AI-assisted view before your next instance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7" name="Google Shape;267;p7"/>
          <p:cNvSpPr/>
          <p:nvPr/>
        </p:nvSpPr>
        <p:spPr>
          <a:xfrm>
            <a:off x="3383280" y="4087368"/>
            <a:ext cx="201168" cy="201168"/>
          </a:xfrm>
          <a:prstGeom prst="ellipse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8" name="Google Shape;268;p7"/>
          <p:cNvSpPr/>
          <p:nvPr/>
        </p:nvSpPr>
        <p:spPr>
          <a:xfrm>
            <a:off x="3383280" y="4087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9" name="Google Shape;269;p7"/>
          <p:cNvSpPr/>
          <p:nvPr/>
        </p:nvSpPr>
        <p:spPr>
          <a:xfrm>
            <a:off x="3675888" y="4069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Run it in parallel with your normal process — compare outputs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0" name="Google Shape;270;p7"/>
          <p:cNvSpPr/>
          <p:nvPr/>
        </p:nvSpPr>
        <p:spPr>
          <a:xfrm>
            <a:off x="6071616" y="1426464"/>
            <a:ext cx="2697480" cy="3246120"/>
          </a:xfrm>
          <a:prstGeom prst="rect">
            <a:avLst/>
          </a:prstGeom>
          <a:solidFill>
            <a:srgbClr val="FFFFFF"/>
          </a:solidFill>
          <a:ln cap="flat" cmpd="sng" w="12700">
            <a:solidFill>
              <a:srgbClr val="D1DBE8"/>
            </a:solidFill>
            <a:prstDash val="solid"/>
            <a:round/>
            <a:headEnd len="sm" w="sm" type="none"/>
            <a:tailEnd len="sm" w="sm" type="none"/>
          </a:ln>
          <a:effectLst>
            <a:outerShdw blurRad="127000" rotWithShape="0" algn="bl" dir="8100000" dist="38100">
              <a:srgbClr val="000000">
                <a:alpha val="10196"/>
              </a:srgbClr>
            </a:outerShdw>
          </a:effectLst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1" name="Google Shape;271;p7"/>
          <p:cNvSpPr/>
          <p:nvPr/>
        </p:nvSpPr>
        <p:spPr>
          <a:xfrm>
            <a:off x="6071616" y="1426464"/>
            <a:ext cx="2697480" cy="475488"/>
          </a:xfrm>
          <a:prstGeom prst="rect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2" name="Google Shape;272;p7"/>
          <p:cNvSpPr/>
          <p:nvPr/>
        </p:nvSpPr>
        <p:spPr>
          <a:xfrm>
            <a:off x="6208776" y="1463040"/>
            <a:ext cx="2423160" cy="18288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50"/>
              <a:buFont typeface="Calibri"/>
              <a:buNone/>
            </a:pPr>
            <a:r>
              <a:rPr b="1" lang="en-US" sz="9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Week 4</a:t>
            </a:r>
            <a:endParaRPr sz="9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3" name="Google Shape;273;p7"/>
          <p:cNvSpPr/>
          <p:nvPr/>
        </p:nvSpPr>
        <p:spPr>
          <a:xfrm>
            <a:off x="6208776" y="1627632"/>
            <a:ext cx="2423160" cy="25603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150"/>
              <a:buFont typeface="Georgia"/>
              <a:buNone/>
            </a:pPr>
            <a:r>
              <a:rPr b="1" lang="en-US" sz="115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Build the Leadership Practice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4" name="Google Shape;274;p7"/>
          <p:cNvSpPr/>
          <p:nvPr/>
        </p:nvSpPr>
        <p:spPr>
          <a:xfrm>
            <a:off x="6236208" y="2057400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7"/>
          <p:cNvSpPr/>
          <p:nvPr/>
        </p:nvSpPr>
        <p:spPr>
          <a:xfrm>
            <a:off x="6236208" y="2057400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1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6" name="Google Shape;276;p7"/>
          <p:cNvSpPr/>
          <p:nvPr/>
        </p:nvSpPr>
        <p:spPr>
          <a:xfrm>
            <a:off x="6528816" y="2039112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Define your 3 standing questions you will always ask of AI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7" name="Google Shape;277;p7"/>
          <p:cNvSpPr/>
          <p:nvPr/>
        </p:nvSpPr>
        <p:spPr>
          <a:xfrm>
            <a:off x="6236208" y="2734056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7"/>
          <p:cNvSpPr/>
          <p:nvPr/>
        </p:nvSpPr>
        <p:spPr>
          <a:xfrm>
            <a:off x="6236208" y="2734056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2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79" name="Google Shape;279;p7"/>
          <p:cNvSpPr/>
          <p:nvPr/>
        </p:nvSpPr>
        <p:spPr>
          <a:xfrm>
            <a:off x="6528816" y="2715768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Share your bias inventory with your direct reports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0" name="Google Shape;280;p7"/>
          <p:cNvSpPr/>
          <p:nvPr/>
        </p:nvSpPr>
        <p:spPr>
          <a:xfrm>
            <a:off x="6236208" y="3410712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7"/>
          <p:cNvSpPr/>
          <p:nvPr/>
        </p:nvSpPr>
        <p:spPr>
          <a:xfrm>
            <a:off x="6236208" y="3410712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3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2" name="Google Shape;282;p7"/>
          <p:cNvSpPr/>
          <p:nvPr/>
        </p:nvSpPr>
        <p:spPr>
          <a:xfrm>
            <a:off x="6528816" y="3392424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Set a quarterly decision retrospective in your calendar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3" name="Google Shape;283;p7"/>
          <p:cNvSpPr/>
          <p:nvPr/>
        </p:nvSpPr>
        <p:spPr>
          <a:xfrm>
            <a:off x="6236208" y="4087368"/>
            <a:ext cx="201168" cy="201168"/>
          </a:xfrm>
          <a:prstGeom prst="ellipse">
            <a:avLst/>
          </a:prstGeom>
          <a:solidFill>
            <a:srgbClr val="C08A20"/>
          </a:solidFill>
          <a:ln cap="flat" cmpd="sng" w="12700">
            <a:solidFill>
              <a:srgbClr val="C08A2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4" name="Google Shape;284;p7"/>
          <p:cNvSpPr/>
          <p:nvPr/>
        </p:nvSpPr>
        <p:spPr>
          <a:xfrm>
            <a:off x="6236208" y="4087368"/>
            <a:ext cx="201168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900"/>
              <a:buFont typeface="Calibri"/>
              <a:buNone/>
            </a:pPr>
            <a:r>
              <a:rPr b="1" lang="en-US" sz="90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4</a:t>
            </a:r>
            <a:endParaRPr sz="9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7"/>
          <p:cNvSpPr/>
          <p:nvPr/>
        </p:nvSpPr>
        <p:spPr>
          <a:xfrm>
            <a:off x="6528816" y="4069080"/>
            <a:ext cx="2103120" cy="566928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4A5568"/>
              </a:buClr>
              <a:buSzPts val="1050"/>
              <a:buFont typeface="Calibri"/>
              <a:buNone/>
            </a:pPr>
            <a:r>
              <a:rPr lang="en-US" sz="1050">
                <a:solidFill>
                  <a:srgbClr val="4A5568"/>
                </a:solidFill>
                <a:latin typeface="Calibri"/>
                <a:ea typeface="Calibri"/>
                <a:cs typeface="Calibri"/>
                <a:sym typeface="Calibri"/>
              </a:rPr>
              <a:t>Identify one report to own the AI-decision integration</a:t>
            </a:r>
            <a:endParaRPr sz="10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7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7" name="Google Shape;287;p7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1B2A4A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8"/>
          <p:cNvSpPr/>
          <p:nvPr/>
        </p:nvSpPr>
        <p:spPr>
          <a:xfrm>
            <a:off x="5029200" y="0"/>
            <a:ext cx="4114800" cy="5143500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162238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4" name="Google Shape;294;p8"/>
          <p:cNvSpPr/>
          <p:nvPr/>
        </p:nvSpPr>
        <p:spPr>
          <a:xfrm>
            <a:off x="5029200" y="0"/>
            <a:ext cx="36576" cy="5143500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8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6" name="Google Shape;296;p8"/>
          <p:cNvSpPr/>
          <p:nvPr/>
        </p:nvSpPr>
        <p:spPr>
          <a:xfrm>
            <a:off x="365760" y="201168"/>
            <a:ext cx="1737360" cy="237744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50"/>
              <a:buFont typeface="Calibri"/>
              <a:buNone/>
            </a:pPr>
            <a:r>
              <a:rPr b="1" lang="en-US" sz="8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SLIDE 07 OF 07</a:t>
            </a:r>
            <a:endParaRPr sz="8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7" name="Google Shape;297;p8"/>
          <p:cNvSpPr/>
          <p:nvPr/>
        </p:nvSpPr>
        <p:spPr>
          <a:xfrm>
            <a:off x="365760" y="548640"/>
            <a:ext cx="4572000" cy="5029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Georgia"/>
              <a:buNone/>
            </a:pPr>
            <a:r>
              <a:rPr b="1" lang="en-US" sz="32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Red Lines:</a:t>
            </a:r>
            <a:endParaRPr sz="3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8" name="Google Shape;298;p8"/>
          <p:cNvSpPr/>
          <p:nvPr/>
        </p:nvSpPr>
        <p:spPr>
          <a:xfrm>
            <a:off x="365760" y="1024128"/>
            <a:ext cx="4572000" cy="40233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7AAAC8"/>
              </a:buClr>
              <a:buSzPts val="2200"/>
              <a:buFont typeface="Georgia"/>
              <a:buNone/>
            </a:pPr>
            <a:r>
              <a:rPr i="1" lang="en-US" sz="2200">
                <a:solidFill>
                  <a:srgbClr val="7AAAC8"/>
                </a:solidFill>
                <a:latin typeface="Georgia"/>
                <a:ea typeface="Georgia"/>
                <a:cs typeface="Georgia"/>
                <a:sym typeface="Georgia"/>
              </a:rPr>
              <a:t>When Not to Let AI Decide</a:t>
            </a:r>
            <a:endParaRPr sz="22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9" name="Google Shape;299;p8"/>
          <p:cNvSpPr/>
          <p:nvPr/>
        </p:nvSpPr>
        <p:spPr>
          <a:xfrm>
            <a:off x="365760" y="1508760"/>
            <a:ext cx="4480560" cy="438912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250"/>
              <a:buFont typeface="Calibri"/>
              <a:buNone/>
            </a:pPr>
            <a:r>
              <a:rPr lang="en-US" sz="125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AI augments judgment. It does not replace it. These five domains require irreducibly human leadership.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0" name="Google Shape;300;p8"/>
          <p:cNvSpPr/>
          <p:nvPr/>
        </p:nvSpPr>
        <p:spPr>
          <a:xfrm>
            <a:off x="365760" y="2011680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1" name="Google Shape;301;p8"/>
          <p:cNvSpPr/>
          <p:nvPr/>
        </p:nvSpPr>
        <p:spPr>
          <a:xfrm>
            <a:off x="530352" y="2039112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Values &amp; Culture Decisions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2" name="Google Shape;302;p8"/>
          <p:cNvSpPr/>
          <p:nvPr/>
        </p:nvSpPr>
        <p:spPr>
          <a:xfrm>
            <a:off x="530352" y="2267712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What the organisation stands for cannot be optimised.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3" name="Google Shape;303;p8"/>
          <p:cNvSpPr/>
          <p:nvPr/>
        </p:nvSpPr>
        <p:spPr>
          <a:xfrm>
            <a:off x="365760" y="2578608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4" name="Google Shape;304;p8"/>
          <p:cNvSpPr/>
          <p:nvPr/>
        </p:nvSpPr>
        <p:spPr>
          <a:xfrm>
            <a:off x="530352" y="2606040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Accountability Under Pressure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5" name="Google Shape;305;p8"/>
          <p:cNvSpPr/>
          <p:nvPr/>
        </p:nvSpPr>
        <p:spPr>
          <a:xfrm>
            <a:off x="530352" y="2834640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When the stakes are high, a human must own the outcome.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6" name="Google Shape;306;p8"/>
          <p:cNvSpPr/>
          <p:nvPr/>
        </p:nvSpPr>
        <p:spPr>
          <a:xfrm>
            <a:off x="365760" y="3145536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07" name="Google Shape;307;p8"/>
          <p:cNvSpPr/>
          <p:nvPr/>
        </p:nvSpPr>
        <p:spPr>
          <a:xfrm>
            <a:off x="530352" y="3172968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Trust-Dependent Relationships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8" name="Google Shape;308;p8"/>
          <p:cNvSpPr/>
          <p:nvPr/>
        </p:nvSpPr>
        <p:spPr>
          <a:xfrm>
            <a:off x="530352" y="3401568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Stakeholder trust requires human judgment and presence.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8"/>
          <p:cNvSpPr/>
          <p:nvPr/>
        </p:nvSpPr>
        <p:spPr>
          <a:xfrm>
            <a:off x="365760" y="3712464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0" name="Google Shape;310;p8"/>
          <p:cNvSpPr/>
          <p:nvPr/>
        </p:nvSpPr>
        <p:spPr>
          <a:xfrm>
            <a:off x="530352" y="3739896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Novel Ethical Dilemmas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1" name="Google Shape;311;p8"/>
          <p:cNvSpPr/>
          <p:nvPr/>
        </p:nvSpPr>
        <p:spPr>
          <a:xfrm>
            <a:off x="530352" y="3968496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AI has no moral framework — it reflects the data it was given.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2" name="Google Shape;312;p8"/>
          <p:cNvSpPr/>
          <p:nvPr/>
        </p:nvSpPr>
        <p:spPr>
          <a:xfrm>
            <a:off x="365760" y="4279392"/>
            <a:ext cx="36576" cy="475488"/>
          </a:xfrm>
          <a:prstGeom prst="rect">
            <a:avLst/>
          </a:prstGeom>
          <a:solidFill>
            <a:srgbClr val="E84A2F"/>
          </a:solidFill>
          <a:ln cap="flat" cmpd="sng" w="12700">
            <a:solidFill>
              <a:srgbClr val="E84A2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3" name="Google Shape;313;p8"/>
          <p:cNvSpPr/>
          <p:nvPr/>
        </p:nvSpPr>
        <p:spPr>
          <a:xfrm>
            <a:off x="530352" y="4306824"/>
            <a:ext cx="4343400" cy="219456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50"/>
              <a:buFont typeface="Calibri"/>
              <a:buNone/>
            </a:pPr>
            <a:r>
              <a:rPr b="1" lang="en-US" sz="1250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Crisis Communication</a:t>
            </a:r>
            <a:endParaRPr sz="12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4" name="Google Shape;314;p8"/>
          <p:cNvSpPr/>
          <p:nvPr/>
        </p:nvSpPr>
        <p:spPr>
          <a:xfrm>
            <a:off x="530352" y="4535424"/>
            <a:ext cx="4343400" cy="201168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8AACCC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8AACCC"/>
                </a:solidFill>
                <a:latin typeface="Calibri"/>
                <a:ea typeface="Calibri"/>
                <a:cs typeface="Calibri"/>
                <a:sym typeface="Calibri"/>
              </a:rPr>
              <a:t>Authenticity, empathy, and context are not computable.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5" name="Google Shape;315;p8"/>
          <p:cNvSpPr/>
          <p:nvPr/>
        </p:nvSpPr>
        <p:spPr>
          <a:xfrm>
            <a:off x="5257800" y="502920"/>
            <a:ext cx="3566160" cy="8229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The Defining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000"/>
              <a:buFont typeface="Georgia"/>
              <a:buNone/>
            </a:pPr>
            <a:r>
              <a:rPr b="1" lang="en-US" sz="3000">
                <a:solidFill>
                  <a:srgbClr val="FFFFFF"/>
                </a:solidFill>
                <a:latin typeface="Georgia"/>
                <a:ea typeface="Georgia"/>
                <a:cs typeface="Georgia"/>
                <a:sym typeface="Georgia"/>
              </a:rPr>
              <a:t>Shift</a:t>
            </a:r>
            <a:endParaRPr sz="30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6" name="Google Shape;316;p8"/>
          <p:cNvSpPr/>
          <p:nvPr/>
        </p:nvSpPr>
        <p:spPr>
          <a:xfrm>
            <a:off x="5257800" y="1389888"/>
            <a:ext cx="3566160" cy="36576"/>
          </a:xfrm>
          <a:prstGeom prst="rect">
            <a:avLst/>
          </a:prstGeom>
          <a:solidFill>
            <a:srgbClr val="0D7A8A"/>
          </a:solidFill>
          <a:ln cap="flat" cmpd="sng" w="12700">
            <a:solidFill>
              <a:srgbClr val="0D7A8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7" name="Google Shape;317;p8"/>
          <p:cNvSpPr/>
          <p:nvPr/>
        </p:nvSpPr>
        <p:spPr>
          <a:xfrm>
            <a:off x="5257800" y="1517904"/>
            <a:ext cx="3566160" cy="1060704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18" name="Google Shape;318;p8"/>
          <p:cNvSpPr/>
          <p:nvPr/>
        </p:nvSpPr>
        <p:spPr>
          <a:xfrm>
            <a:off x="5413248" y="1609344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From asking: What should I do?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8"/>
          <p:cNvSpPr/>
          <p:nvPr/>
        </p:nvSpPr>
        <p:spPr>
          <a:xfrm>
            <a:off x="5413248" y="1883664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 asking: What does the evidence suggest — and what am I bringing that the evidence can't?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8"/>
          <p:cNvSpPr/>
          <p:nvPr/>
        </p:nvSpPr>
        <p:spPr>
          <a:xfrm>
            <a:off x="5257800" y="2670048"/>
            <a:ext cx="3566160" cy="1060704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1" name="Google Shape;321;p8"/>
          <p:cNvSpPr/>
          <p:nvPr/>
        </p:nvSpPr>
        <p:spPr>
          <a:xfrm>
            <a:off x="5413248" y="2761488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From defending decisions with authority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2" name="Google Shape;322;p8"/>
          <p:cNvSpPr/>
          <p:nvPr/>
        </p:nvSpPr>
        <p:spPr>
          <a:xfrm>
            <a:off x="5413248" y="3035808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 defending decisions with both authority and evidence.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3" name="Google Shape;323;p8"/>
          <p:cNvSpPr/>
          <p:nvPr/>
        </p:nvSpPr>
        <p:spPr>
          <a:xfrm>
            <a:off x="5257800" y="3822192"/>
            <a:ext cx="3566160" cy="1060704"/>
          </a:xfrm>
          <a:prstGeom prst="rect">
            <a:avLst/>
          </a:prstGeom>
          <a:solidFill>
            <a:srgbClr val="162238"/>
          </a:solidFill>
          <a:ln cap="flat" cmpd="sng" w="12700">
            <a:solidFill>
              <a:srgbClr val="2A406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4" name="Google Shape;324;p8"/>
          <p:cNvSpPr/>
          <p:nvPr/>
        </p:nvSpPr>
        <p:spPr>
          <a:xfrm>
            <a:off x="5413248" y="3913632"/>
            <a:ext cx="324612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D7A8A"/>
              </a:buClr>
              <a:buSzPts val="1150"/>
              <a:buFont typeface="Calibri"/>
              <a:buNone/>
            </a:pPr>
            <a:r>
              <a:rPr b="1" lang="en-US" sz="1150">
                <a:solidFill>
                  <a:srgbClr val="0D7A8A"/>
                </a:solidFill>
                <a:latin typeface="Calibri"/>
                <a:ea typeface="Calibri"/>
                <a:cs typeface="Calibri"/>
                <a:sym typeface="Calibri"/>
              </a:rPr>
              <a:t>From treating AI as a threat to judgment</a:t>
            </a:r>
            <a:endParaRPr sz="115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5" name="Google Shape;325;p8"/>
          <p:cNvSpPr/>
          <p:nvPr/>
        </p:nvSpPr>
        <p:spPr>
          <a:xfrm>
            <a:off x="5413248" y="4187952"/>
            <a:ext cx="3246120" cy="59436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AACCDD"/>
              </a:buClr>
              <a:buSzPts val="1100"/>
              <a:buFont typeface="Calibri"/>
              <a:buNone/>
            </a:pPr>
            <a:r>
              <a:rPr lang="en-US" sz="1100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To treating AI as the thing that makes your judgment more valuable.</a:t>
            </a:r>
            <a:endParaRPr sz="11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6" name="Google Shape;326;p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1B2A4A"/>
          </a:solidFill>
          <a:ln cap="flat" cmpd="sng" w="12700">
            <a:solidFill>
              <a:srgbClr val="1B2A4A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7" name="Google Shape;327;p8"/>
          <p:cNvSpPr/>
          <p:nvPr/>
        </p:nvSpPr>
        <p:spPr>
          <a:xfrm>
            <a:off x="0" y="4837176"/>
            <a:ext cx="9144000" cy="27432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91425" spcFirstLastPara="1" rIns="91425" wrap="square" tIns="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875">
                <a:solidFill>
                  <a:srgbClr val="AACCDD"/>
                </a:solidFill>
                <a:latin typeface="Calibri"/>
                <a:ea typeface="Calibri"/>
                <a:cs typeface="Calibri"/>
                <a:sym typeface="Calibri"/>
              </a:rPr>
              <a:t>Accredian is a leading Indian institution specializing in AI, Data Science, and Management research and education.  •  Visit us at: </a:t>
            </a:r>
            <a:r>
              <a:rPr lang="en-US" sz="875" u="sng">
                <a:solidFill>
                  <a:schemeClr val="accent1"/>
                </a:solidFill>
                <a:latin typeface="Calibri"/>
                <a:ea typeface="Calibri"/>
                <a:cs typeface="Calibri"/>
                <a:sym typeface="Calibri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https://accredian.com</a:t>
            </a:r>
            <a:endParaRPr sz="875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2026-03-22T04:45:29Z</dcterms:created>
  <dc:creator>PptxGenJS</dc:creator>
</cp:coreProperties>
</file>