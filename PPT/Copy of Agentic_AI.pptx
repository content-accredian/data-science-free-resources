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2025 TRENDING TOPIC IN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C7293"/>
                </a:solidFill>
              </a:rPr>
              <a:t>The Rise of Autonomous Intelligence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3657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6517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How AI systems are evolving from reactive tools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into goal-driven autonomous agents.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4023360"/>
            <a:ext cx="1645920" cy="502920"/>
          </a:xfrm>
          <a:prstGeom prst="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4023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203C"/>
                </a:solidFill>
              </a:rPr>
              <a:t>2025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5203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2C39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291840"/>
          </a:xfrm>
          <a:prstGeom prst="rect">
            <a:avLst>
              <a:gd name="adj" fmla="val 2778"/>
            </a:avLst>
          </a:prstGeom>
          <a:solidFill>
            <a:srgbClr val="0A335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82296" cy="3291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8F4F8"/>
                </a:solidFill>
              </a:rPr>
              <a:t>Agentic AI refers to AI systems capable of autonomously planning, deciding, and taking sequences of actions to achieve complex, long-horizon goals — with minimal human intervention.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Key Characteristics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▶  Goal-directed behaviour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3192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▶  Memory &amp; context retention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5753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▶  Tool use &amp; API calls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8313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▶  Self-correction &amp; iteration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60520" cy="3291840"/>
          </a:xfrm>
          <a:prstGeom prst="rect">
            <a:avLst>
              <a:gd name="adj" fmla="val 2778"/>
            </a:avLst>
          </a:prstGeom>
          <a:solidFill>
            <a:srgbClr val="0A3352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960120"/>
            <a:ext cx="82296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Traditional AI  vs  Agentic 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463040"/>
            <a:ext cx="1188720" cy="365760"/>
          </a:xfrm>
          <a:prstGeom prst="rect">
            <a:avLst/>
          </a:prstGeom>
          <a:solidFill>
            <a:srgbClr val="065A82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63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Aspect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1463040"/>
            <a:ext cx="1280160" cy="365760"/>
          </a:xfrm>
          <a:prstGeom prst="rect">
            <a:avLst/>
          </a:prstGeom>
          <a:solidFill>
            <a:srgbClr val="065A82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463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Traditional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1463040"/>
            <a:ext cx="1280160" cy="365760"/>
          </a:xfrm>
          <a:prstGeom prst="rect">
            <a:avLst/>
          </a:prstGeom>
          <a:solidFill>
            <a:srgbClr val="065A82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1463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1883664"/>
            <a:ext cx="1188720" cy="365760"/>
          </a:xfrm>
          <a:prstGeom prst="rect">
            <a:avLst/>
          </a:prstGeom>
          <a:solidFill>
            <a:srgbClr val="082B47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8836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Scope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1883664"/>
            <a:ext cx="1280160" cy="365760"/>
          </a:xfrm>
          <a:prstGeom prst="rect">
            <a:avLst/>
          </a:prstGeom>
          <a:solidFill>
            <a:srgbClr val="082B47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18836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Single task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69480" y="1883664"/>
            <a:ext cx="1280160" cy="365760"/>
          </a:xfrm>
          <a:prstGeom prst="rect">
            <a:avLst/>
          </a:prstGeom>
          <a:solidFill>
            <a:srgbClr val="082B47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8836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Multi-step goals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304288"/>
            <a:ext cx="1188720" cy="365760"/>
          </a:xfrm>
          <a:prstGeom prst="rect">
            <a:avLst/>
          </a:prstGeom>
          <a:solidFill>
            <a:srgbClr val="0D3B5C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3042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Memory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2304288"/>
            <a:ext cx="1280160" cy="365760"/>
          </a:xfrm>
          <a:prstGeom prst="rect">
            <a:avLst/>
          </a:prstGeom>
          <a:solidFill>
            <a:srgbClr val="0D3B5C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3042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Stateless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69480" y="2304288"/>
            <a:ext cx="1280160" cy="365760"/>
          </a:xfrm>
          <a:prstGeom prst="rect">
            <a:avLst/>
          </a:prstGeom>
          <a:solidFill>
            <a:srgbClr val="0D3B5C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23042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Persistent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2724912"/>
            <a:ext cx="1188720" cy="365760"/>
          </a:xfrm>
          <a:prstGeom prst="rect">
            <a:avLst/>
          </a:prstGeom>
          <a:solidFill>
            <a:srgbClr val="082B47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7249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Initiative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89320" y="2724912"/>
            <a:ext cx="1280160" cy="365760"/>
          </a:xfrm>
          <a:prstGeom prst="rect">
            <a:avLst/>
          </a:prstGeom>
          <a:solidFill>
            <a:srgbClr val="082B47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27249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Reactive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269480" y="2724912"/>
            <a:ext cx="1280160" cy="365760"/>
          </a:xfrm>
          <a:prstGeom prst="rect">
            <a:avLst/>
          </a:prstGeom>
          <a:solidFill>
            <a:srgbClr val="082B47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9480" y="27249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Proactive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3145536"/>
            <a:ext cx="1188720" cy="365760"/>
          </a:xfrm>
          <a:prstGeom prst="rect">
            <a:avLst/>
          </a:prstGeom>
          <a:solidFill>
            <a:srgbClr val="0D3B5C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1455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Tools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89320" y="3145536"/>
            <a:ext cx="1280160" cy="365760"/>
          </a:xfrm>
          <a:prstGeom prst="rect">
            <a:avLst/>
          </a:prstGeom>
          <a:solidFill>
            <a:srgbClr val="0D3B5C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31455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Limited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269480" y="3145536"/>
            <a:ext cx="1280160" cy="365760"/>
          </a:xfrm>
          <a:prstGeom prst="rect">
            <a:avLst/>
          </a:prstGeom>
          <a:solidFill>
            <a:srgbClr val="0D3B5C"/>
          </a:solidFill>
          <a:ln w="6350">
            <a:solidFill>
              <a:srgbClr val="0A4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9480" y="31455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Broad toolset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5203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2C39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Core Architecture of an AI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554480"/>
          </a:xfrm>
          <a:prstGeom prst="rect">
            <a:avLst>
              <a:gd name="adj" fmla="val 5882"/>
            </a:avLst>
          </a:prstGeom>
          <a:solidFill>
            <a:srgbClr val="0A335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Perception &amp; 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</a:rPr>
              <a:t>Ingests text, images, audio, API data, and environmental signals to build situational awareness.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60520" cy="1554480"/>
          </a:xfrm>
          <a:prstGeom prst="rect">
            <a:avLst>
              <a:gd name="adj" fmla="val 5882"/>
            </a:avLst>
          </a:prstGeom>
          <a:solidFill>
            <a:srgbClr val="0A3352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914400"/>
            <a:ext cx="41605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51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Planning &amp; Reasoning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</a:rPr>
              <a:t>Decomposes goals into sub-tasks, evaluates options, and creates executable multi-step action plans.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606040"/>
            <a:ext cx="4160520" cy="1554480"/>
          </a:xfrm>
          <a:prstGeom prst="rect">
            <a:avLst>
              <a:gd name="adj" fmla="val 5882"/>
            </a:avLst>
          </a:prstGeom>
          <a:solidFill>
            <a:srgbClr val="0A3352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606040"/>
            <a:ext cx="41605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743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Tool Use &amp; Execution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2278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</a:rPr>
              <a:t>Calls APIs, writes/runs code, browses the web, queries databases, and manipulates files autonomously.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606040"/>
            <a:ext cx="4160520" cy="1554480"/>
          </a:xfrm>
          <a:prstGeom prst="rect">
            <a:avLst>
              <a:gd name="adj" fmla="val 5882"/>
            </a:avLst>
          </a:prstGeom>
          <a:solidFill>
            <a:srgbClr val="0A3352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2606040"/>
            <a:ext cx="41605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743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Memory &amp; Feedback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2278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</a:rPr>
              <a:t>Maintains short-term context and long-term memory; self-evaluates outcomes to refine future actions.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53128" y="1691640"/>
            <a:ext cx="2286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4453128" y="3401568"/>
            <a:ext cx="2286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Shape 24"/>
          <p:cNvSpPr/>
          <p:nvPr/>
        </p:nvSpPr>
        <p:spPr>
          <a:xfrm>
            <a:off x="2331720" y="2450592"/>
            <a:ext cx="54864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6720840" y="2450592"/>
            <a:ext cx="54864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5203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2C39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Real-World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1600200"/>
          </a:xfrm>
          <a:prstGeom prst="rect">
            <a:avLst>
              <a:gd name="adj" fmla="val 5714"/>
            </a:avLst>
          </a:prstGeom>
          <a:solidFill>
            <a:srgbClr val="0A3352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2834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Software Engineering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8"/>
                </a:solidFill>
              </a:rPr>
              <a:t>Agents like Devin &amp; GitHub Copilot Workspace write, debug, and deploy full codebases end-to-end.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834640" cy="1600200"/>
          </a:xfrm>
          <a:prstGeom prst="rect">
            <a:avLst>
              <a:gd name="adj" fmla="val 5714"/>
            </a:avLst>
          </a:prstGeom>
          <a:solidFill>
            <a:srgbClr val="0A3352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914400"/>
            <a:ext cx="2834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94760" y="1005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Scientific Research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4813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8"/>
                </a:solidFill>
              </a:rPr>
              <a:t>AI agents autonomously design experiments, review literature, and synthesize findings.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834640" cy="1600200"/>
          </a:xfrm>
          <a:prstGeom prst="rect">
            <a:avLst>
              <a:gd name="adj" fmla="val 5714"/>
            </a:avLst>
          </a:prstGeom>
          <a:solidFill>
            <a:srgbClr val="0A3352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914400"/>
            <a:ext cx="2834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1005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Business Automation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4813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8"/>
                </a:solidFill>
              </a:rPr>
              <a:t>From email triage to financial modelling — agents handle complex multi-tool workflows.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743200"/>
            <a:ext cx="2834640" cy="1600200"/>
          </a:xfrm>
          <a:prstGeom prst="rect">
            <a:avLst>
              <a:gd name="adj" fmla="val 5714"/>
            </a:avLst>
          </a:prstGeom>
          <a:solidFill>
            <a:srgbClr val="0A3352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" y="2743200"/>
            <a:ext cx="2834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E-Commerce &amp; Ops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3101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8"/>
                </a:solidFill>
              </a:rPr>
              <a:t>Inventory management, dynamic pricing, and personalised customer journeys at scale.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834640" cy="1600200"/>
          </a:xfrm>
          <a:prstGeom prst="rect">
            <a:avLst>
              <a:gd name="adj" fmla="val 5714"/>
            </a:avLst>
          </a:prstGeom>
          <a:solidFill>
            <a:srgbClr val="0A335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2743200"/>
            <a:ext cx="2834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79476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3101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8"/>
                </a:solidFill>
              </a:rPr>
              <a:t>Diagnostic assistance, drug discovery pipelines, and autonomous clinical trial coordination.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743200"/>
            <a:ext cx="2834640" cy="1600200"/>
          </a:xfrm>
          <a:prstGeom prst="rect">
            <a:avLst>
              <a:gd name="adj" fmla="val 5714"/>
            </a:avLst>
          </a:prstGeom>
          <a:solidFill>
            <a:srgbClr val="0A3352"/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2743200"/>
            <a:ext cx="2834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6656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Education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3101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8"/>
                </a:solidFill>
              </a:rPr>
              <a:t>Personalised AI tutors that adapt curriculum, track progress, and generate assessments.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5203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2C39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Players &amp; Frameworks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383280"/>
          </a:xfrm>
          <a:prstGeom prst="rect">
            <a:avLst>
              <a:gd name="adj" fmla="val 2703"/>
            </a:avLst>
          </a:prstGeom>
          <a:solidFill>
            <a:srgbClr val="0A335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82296" cy="3383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Leading Companies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914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GPT-4o + Operator agent, multi-tool use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914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933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Anthropic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1762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Claude with advanced tool use &amp; memory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23744"/>
            <a:ext cx="914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2374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DeepMind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7066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Gemini Agents + Project Astra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914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540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Microsoft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2369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Copilot Studio &amp; AutoGen framework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914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844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Cognition 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7673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Devin — world's first AI software engineer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914400"/>
            <a:ext cx="4114800" cy="3383280"/>
          </a:xfrm>
          <a:prstGeom prst="rect">
            <a:avLst>
              <a:gd name="adj" fmla="val 2703"/>
            </a:avLst>
          </a:prstGeom>
          <a:solidFill>
            <a:srgbClr val="0A3352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914400"/>
            <a:ext cx="82296" cy="3383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024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Open-Source Frameworks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1463040"/>
            <a:ext cx="91440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14630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LangGraph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16459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Stateful, graph-based agent orchestration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7760" y="1993392"/>
            <a:ext cx="91440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9933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AutoGen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21762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Multi-agent conversation framework by MS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2523744"/>
            <a:ext cx="91440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252374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CrewAI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27066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Role-based collaborative agent teams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37760" y="3054096"/>
            <a:ext cx="91440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30540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LlamaIndex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32369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Data-aware agent pipelines &amp; RAG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37760" y="3584448"/>
            <a:ext cx="91440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35844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Haystack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66360" y="37673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Production NLP + agentic pipelines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5203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2C39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Challenges &amp; Risks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600200"/>
          </a:xfrm>
          <a:prstGeom prst="rect">
            <a:avLst>
              <a:gd name="adj" fmla="val 5714"/>
            </a:avLst>
          </a:prstGeom>
          <a:solidFill>
            <a:srgbClr val="0A335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10515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Hallucination &amp; Errors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</a:rPr>
              <a:t>Agents can confidently execute flawed plans, compounding mistakes across multiple steps with real-world consequences.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743200"/>
            <a:ext cx="4160520" cy="1600200"/>
          </a:xfrm>
          <a:prstGeom prst="rect">
            <a:avLst>
              <a:gd name="adj" fmla="val 5714"/>
            </a:avLst>
          </a:prstGeom>
          <a:solidFill>
            <a:srgbClr val="0A3352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743200"/>
            <a:ext cx="41605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880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32688" y="2880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Security &amp; Prompt Injection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3649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</a:rPr>
              <a:t>Malicious inputs can hijack agent actions — a significant threat when agents have broad system access.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4160520" cy="1600200"/>
          </a:xfrm>
          <a:prstGeom prst="rect">
            <a:avLst>
              <a:gd name="adj" fmla="val 5714"/>
            </a:avLst>
          </a:prstGeom>
          <a:solidFill>
            <a:srgbClr val="0A3352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914400"/>
            <a:ext cx="41605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51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67528" y="10515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Alignment &amp; Control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5361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</a:rPr>
              <a:t>Ensuring agents pursue intended goals without unexpected instrumental behaviours remains an open research challenge.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743200"/>
            <a:ext cx="4160520" cy="1600200"/>
          </a:xfrm>
          <a:prstGeom prst="rect">
            <a:avLst>
              <a:gd name="adj" fmla="val 5714"/>
            </a:avLst>
          </a:prstGeom>
          <a:solidFill>
            <a:srgbClr val="0A3352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2743200"/>
            <a:ext cx="41605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80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67528" y="2880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Cost &amp; Latency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3649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</a:rPr>
              <a:t>Multi-step reasoning with tool calls can be expensive and slow, limiting real-time deployment at scale.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5203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2C39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Outlook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005840" cy="868680"/>
          </a:xfrm>
          <a:prstGeom prst="rect">
            <a:avLst>
              <a:gd name="adj" fmla="val 8421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03C"/>
                </a:solidFill>
              </a:rPr>
              <a:t>2025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1417320"/>
            <a:ext cx="27432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005840"/>
            <a:ext cx="7269480" cy="868680"/>
          </a:xfrm>
          <a:prstGeom prst="rect">
            <a:avLst>
              <a:gd name="adj" fmla="val 8421"/>
            </a:avLst>
          </a:prstGeom>
          <a:solidFill>
            <a:srgbClr val="0A3352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1005840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105156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Foundation Models + Agents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13898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Rapid adoption of agentic frameworks in enterprise software, coding, and research pipelines.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1005840" cy="868680"/>
          </a:xfrm>
          <a:prstGeom prst="rect">
            <a:avLst>
              <a:gd name="adj" fmla="val 8421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945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03C"/>
                </a:solidFill>
              </a:rPr>
              <a:t>2026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80160" y="2606040"/>
            <a:ext cx="27432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1554480" y="2194560"/>
            <a:ext cx="7269480" cy="868680"/>
          </a:xfrm>
          <a:prstGeom prst="rect">
            <a:avLst>
              <a:gd name="adj" fmla="val 8421"/>
            </a:avLst>
          </a:prstGeom>
          <a:solidFill>
            <a:srgbClr val="0A3352"/>
          </a:solidFill>
          <a:ln/>
        </p:spPr>
      </p:sp>
      <p:sp>
        <p:nvSpPr>
          <p:cNvPr id="15" name="Shape 13"/>
          <p:cNvSpPr/>
          <p:nvPr/>
        </p:nvSpPr>
        <p:spPr>
          <a:xfrm>
            <a:off x="1554480" y="2194560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783080" y="224028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Collaborative Multi-Agent Systems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83080" y="25786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Teams of specialised agents coordinating on complex projects — engineering, science, business.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1005840" cy="868680"/>
          </a:xfrm>
          <a:prstGeom prst="rect">
            <a:avLst>
              <a:gd name="adj" fmla="val 8421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832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03C"/>
                </a:solidFill>
              </a:rPr>
              <a:t>2027+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80160" y="3794760"/>
            <a:ext cx="27432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1554480" y="3383280"/>
            <a:ext cx="7269480" cy="868680"/>
          </a:xfrm>
          <a:prstGeom prst="rect">
            <a:avLst>
              <a:gd name="adj" fmla="val 8421"/>
            </a:avLst>
          </a:prstGeom>
          <a:solidFill>
            <a:srgbClr val="0A3352"/>
          </a:solidFill>
          <a:ln/>
        </p:spPr>
      </p:sp>
      <p:sp>
        <p:nvSpPr>
          <p:cNvPr id="22" name="Shape 20"/>
          <p:cNvSpPr/>
          <p:nvPr/>
        </p:nvSpPr>
        <p:spPr>
          <a:xfrm>
            <a:off x="1554480" y="3383280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1783080" y="342900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Towards Generalised Agents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83080" y="37673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Long-horizon planning, robust memory, and near-human-level task generalisation become mainstream.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8595360" cy="274320"/>
          </a:xfrm>
          <a:prstGeom prst="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343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"Agentic AI is not a feature — it is a paradigm shift toward AI systems that act as autonomous collaborators."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5203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02C39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AI: The Rise of Autonomous Intelligence</dc:title>
  <dc:subject>PptxGenJS Presentation</dc:subject>
  <dc:creator>PptxGenJS</dc:creator>
  <cp:lastModifiedBy>PptxGenJS</cp:lastModifiedBy>
  <cp:revision>1</cp:revision>
  <dcterms:created xsi:type="dcterms:W3CDTF">2026-03-23T05:53:05Z</dcterms:created>
  <dcterms:modified xsi:type="dcterms:W3CDTF">2026-03-23T05:53:05Z</dcterms:modified>
</cp:coreProperties>
</file>