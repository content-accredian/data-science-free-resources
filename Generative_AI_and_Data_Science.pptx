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0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4" name="Shape 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C2596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C842"/>
                </a:solidFill>
              </a:rPr>
              <a:t>2025 TRENDING TOPIC IN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Data Science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2596A"/>
                </a:solidFill>
              </a:rPr>
              <a:t>The Creative Intelligence Revolution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65760" y="2816352"/>
            <a:ext cx="4114800" cy="36576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944368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A090B8"/>
                </a:solidFill>
              </a:rPr>
              <a:t>Exploring how generative models are reshaping data workflows,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A090B8"/>
                </a:solidFill>
              </a:rPr>
              <a:t>creative industries, and the future of human-AI collaboration.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65760" y="3886200"/>
            <a:ext cx="1965960" cy="438912"/>
          </a:xfrm>
          <a:prstGeom prst="rect">
            <a:avLst>
              <a:gd name="adj" fmla="val 16667"/>
            </a:avLst>
          </a:prstGeom>
          <a:solidFill>
            <a:srgbClr val="221040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88620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E6FF"/>
                </a:solidFill>
              </a:rPr>
              <a:t>✍️ Text Gen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3886200"/>
            <a:ext cx="1965960" cy="438912"/>
          </a:xfrm>
          <a:prstGeom prst="rect">
            <a:avLst>
              <a:gd name="adj" fmla="val 16667"/>
            </a:avLst>
          </a:prstGeom>
          <a:solidFill>
            <a:srgbClr val="221040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388620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E6FF"/>
                </a:solidFill>
              </a:rPr>
              <a:t>🖼️ Image Gen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3886200"/>
            <a:ext cx="1965960" cy="438912"/>
          </a:xfrm>
          <a:prstGeom prst="rect">
            <a:avLst>
              <a:gd name="adj" fmla="val 16667"/>
            </a:avLst>
          </a:prstGeom>
          <a:solidFill>
            <a:srgbClr val="221040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88620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E6FF"/>
                </a:solidFill>
              </a:rPr>
              <a:t>🎵 Audio Gen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3886200"/>
            <a:ext cx="1965960" cy="438912"/>
          </a:xfrm>
          <a:prstGeom prst="rect">
            <a:avLst>
              <a:gd name="adj" fmla="val 16667"/>
            </a:avLst>
          </a:prstGeom>
          <a:solidFill>
            <a:srgbClr val="221040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88620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E6FF"/>
                </a:solidFill>
              </a:rPr>
              <a:t>🧪 Data Synthesis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20820"/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90B8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A090B8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F5C84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0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Generative AI?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8595360" cy="1005840"/>
          </a:xfrm>
          <a:prstGeom prst="rect">
            <a:avLst>
              <a:gd name="adj" fmla="val 9091"/>
            </a:avLst>
          </a:prstGeom>
          <a:solidFill>
            <a:srgbClr val="22104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96112"/>
            <a:ext cx="82296" cy="100584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32688"/>
            <a:ext cx="8183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0E6FF"/>
                </a:solidFill>
              </a:rPr>
              <a:t>Generative AI refers to machine learning systems that learn the statistical distribution of training data and generate novel, realistic outputs — text, images, audio, code, 3D models, or synthetic data — indistinguishable from human-created content.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057400"/>
            <a:ext cx="2834640" cy="2377440"/>
          </a:xfrm>
          <a:prstGeom prst="rect">
            <a:avLst>
              <a:gd name="adj" fmla="val 3846"/>
            </a:avLst>
          </a:prstGeom>
          <a:solidFill>
            <a:srgbClr val="221040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2057400"/>
            <a:ext cx="2834640" cy="54864"/>
          </a:xfrm>
          <a:prstGeom prst="rect">
            <a:avLst/>
          </a:prstGeom>
          <a:solidFill>
            <a:srgbClr val="A090B8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148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90B8"/>
                </a:solidFill>
              </a:rPr>
              <a:t>Discriminative 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FF"/>
                </a:solidFill>
              </a:rPr>
              <a:t>▸  Classifies existing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9260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FF"/>
                </a:solidFill>
              </a:rPr>
              <a:t>▸  Input → label/decision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2735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FF"/>
                </a:solidFill>
              </a:rPr>
              <a:t>▸  CNN for image classification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62102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FF"/>
                </a:solidFill>
              </a:rPr>
              <a:t>▸  Output: yes/no or category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96849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FF"/>
                </a:solidFill>
              </a:rPr>
              <a:t>▸  Cannot create new content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2057400"/>
            <a:ext cx="2834640" cy="2377440"/>
          </a:xfrm>
          <a:prstGeom prst="rect">
            <a:avLst>
              <a:gd name="adj" fmla="val 3846"/>
            </a:avLst>
          </a:prstGeom>
          <a:solidFill>
            <a:srgbClr val="221040"/>
          </a:solidFill>
          <a:ln/>
        </p:spPr>
      </p:sp>
      <p:sp>
        <p:nvSpPr>
          <p:cNvPr id="16" name="Shape 14"/>
          <p:cNvSpPr/>
          <p:nvPr/>
        </p:nvSpPr>
        <p:spPr>
          <a:xfrm>
            <a:off x="3246120" y="2057400"/>
            <a:ext cx="2834640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2148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</a:rPr>
              <a:t>Generative AI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25786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FF"/>
                </a:solidFill>
              </a:rPr>
              <a:t>▸  Creates new data instances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9260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FF"/>
                </a:solidFill>
              </a:rPr>
              <a:t>▸  Learns data distribution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2735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FF"/>
                </a:solidFill>
              </a:rPr>
              <a:t>▸  GANs, VAEs, Diffusion, LLMs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62102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FF"/>
                </a:solidFill>
              </a:rPr>
              <a:t>▸  Output: images, text, audio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396849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FF"/>
                </a:solidFill>
              </a:rPr>
              <a:t>▸  Can synthesise realistic content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2057400"/>
            <a:ext cx="2834640" cy="2377440"/>
          </a:xfrm>
          <a:prstGeom prst="rect">
            <a:avLst>
              <a:gd name="adj" fmla="val 3846"/>
            </a:avLst>
          </a:prstGeom>
          <a:solidFill>
            <a:srgbClr val="22104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2057400"/>
            <a:ext cx="2834640" cy="54864"/>
          </a:xfrm>
          <a:prstGeom prst="rect">
            <a:avLst/>
          </a:prstGeom>
          <a:solidFill>
            <a:srgbClr val="C2596A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148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596A"/>
                </a:solidFill>
              </a:rPr>
              <a:t>Foundation Models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25786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FF"/>
                </a:solidFill>
              </a:rPr>
              <a:t>▸  Massive pre-trained base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29260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FF"/>
                </a:solidFill>
              </a:rPr>
              <a:t>▸  Fine-tuned for many tasks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32735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FF"/>
                </a:solidFill>
              </a:rPr>
              <a:t>▸  GPT-4, Gemini, Claude, LLaMA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362102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FF"/>
                </a:solidFill>
              </a:rPr>
              <a:t>▸  100B+ parameters at scale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396849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FF"/>
                </a:solidFill>
              </a:rPr>
              <a:t>▸  Emergent general capabilities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20820"/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90B8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A090B8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F5C84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0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Generative Architectures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1645920"/>
          </a:xfrm>
          <a:prstGeom prst="rect">
            <a:avLst>
              <a:gd name="adj" fmla="val 5556"/>
            </a:avLst>
          </a:prstGeom>
          <a:solidFill>
            <a:srgbClr val="22104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4160520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241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0241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</a:rPr>
              <a:t>Transformer / LLM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90B8"/>
                </a:solidFill>
              </a:rPr>
              <a:t>Used in: GPT-4, Claude, Gemini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38587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E6FF"/>
                </a:solidFill>
              </a:rPr>
              <a:t>Self-attention mechanism processes sequences in parallel. Foundation of modern text, code, and multimodal generation.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160520" cy="1645920"/>
          </a:xfrm>
          <a:prstGeom prst="rect">
            <a:avLst>
              <a:gd name="adj" fmla="val 5556"/>
            </a:avLst>
          </a:prstGeom>
          <a:solidFill>
            <a:srgbClr val="221040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914400"/>
            <a:ext cx="4160520" cy="54864"/>
          </a:xfrm>
          <a:prstGeom prst="rect">
            <a:avLst/>
          </a:prstGeom>
          <a:solidFill>
            <a:srgbClr val="C2596A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0241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🌀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0241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596A"/>
                </a:solidFill>
              </a:rPr>
              <a:t>Diffusion Models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38988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90B8"/>
                </a:solidFill>
              </a:rPr>
              <a:t>Used in: DALL·E 3, Stable Diffusion, Sora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664208"/>
            <a:ext cx="38587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E6FF"/>
                </a:solidFill>
              </a:rPr>
              <a:t>Iteratively denoise random noise into structured outputs. State-of-the-art for image and video synthesis.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697480"/>
            <a:ext cx="4160520" cy="1645920"/>
          </a:xfrm>
          <a:prstGeom prst="rect">
            <a:avLst>
              <a:gd name="adj" fmla="val 5556"/>
            </a:avLst>
          </a:prstGeom>
          <a:solidFill>
            <a:srgbClr val="221040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697480"/>
            <a:ext cx="4160520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8072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⚔️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" y="2807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B6"/>
                </a:solidFill>
              </a:rPr>
              <a:t>GANs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31729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90B8"/>
                </a:solidFill>
              </a:rPr>
              <a:t>Used in: StyleGAN, CycleGAN, BigGAN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447288"/>
            <a:ext cx="38587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E6FF"/>
                </a:solidFill>
              </a:rPr>
              <a:t>Generator vs discriminator adversarial training. Produces photorealistic faces, style transfer, and data augmentation.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2697480"/>
            <a:ext cx="4160520" cy="1645920"/>
          </a:xfrm>
          <a:prstGeom prst="rect">
            <a:avLst>
              <a:gd name="adj" fmla="val 5556"/>
            </a:avLst>
          </a:prstGeom>
          <a:solidFill>
            <a:srgbClr val="221040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2697480"/>
            <a:ext cx="4160520" cy="54864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8072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🧲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94960" y="2807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ADE2"/>
                </a:solidFill>
              </a:rPr>
              <a:t>VAE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92040" y="31729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90B8"/>
                </a:solidFill>
              </a:rPr>
              <a:t>Used in: Stable Diffusion latent space, drug design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447288"/>
            <a:ext cx="38587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E6FF"/>
                </a:solidFill>
              </a:rPr>
              <a:t>Encodes data into compact latent representations; decodes to reconstruct or generate new samples with controlled variation.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20820"/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90B8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A090B8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F5C84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0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GenAI Meets Data Science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834640" cy="1600200"/>
          </a:xfrm>
          <a:prstGeom prst="rect">
            <a:avLst>
              <a:gd name="adj" fmla="val 5714"/>
            </a:avLst>
          </a:prstGeom>
          <a:solidFill>
            <a:srgbClr val="221040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14400"/>
            <a:ext cx="2834640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</a:rPr>
              <a:t>Synthetic Data Generation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2624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E6FF"/>
                </a:solidFill>
              </a:rPr>
              <a:t>GenAI creates realistic tabular, image, and text datasets to augment scarce training data and preserve privacy.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834640" cy="1600200"/>
          </a:xfrm>
          <a:prstGeom prst="rect">
            <a:avLst>
              <a:gd name="adj" fmla="val 5714"/>
            </a:avLst>
          </a:prstGeom>
          <a:solidFill>
            <a:srgbClr val="22104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914400"/>
            <a:ext cx="2834640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05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94760" y="1005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</a:rPr>
              <a:t>Automated EDA &amp; Reporting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481328"/>
            <a:ext cx="2624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E6FF"/>
                </a:solidFill>
              </a:rPr>
              <a:t>LLMs interpret datasets, generate visualisation code, write analytical summaries, and surface hidden patterns.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914400"/>
            <a:ext cx="2834640" cy="1600200"/>
          </a:xfrm>
          <a:prstGeom prst="rect">
            <a:avLst>
              <a:gd name="adj" fmla="val 5714"/>
            </a:avLst>
          </a:prstGeom>
          <a:solidFill>
            <a:srgbClr val="221040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914400"/>
            <a:ext cx="2834640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005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66560" y="1005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</a:rPr>
              <a:t>Data Augmentation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481328"/>
            <a:ext cx="2624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E6FF"/>
                </a:solidFill>
              </a:rPr>
              <a:t>Diffusion models and GANs expand training sets — especially for rare events like fraud, rare diseases, and edge cases.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2743200"/>
            <a:ext cx="2834640" cy="1600200"/>
          </a:xfrm>
          <a:prstGeom prst="rect">
            <a:avLst>
              <a:gd name="adj" fmla="val 5714"/>
            </a:avLst>
          </a:prstGeom>
          <a:solidFill>
            <a:srgbClr val="221040"/>
          </a:solidFill>
          <a:ln/>
        </p:spPr>
      </p:sp>
      <p:sp>
        <p:nvSpPr>
          <p:cNvPr id="20" name="Shape 18"/>
          <p:cNvSpPr/>
          <p:nvPr/>
        </p:nvSpPr>
        <p:spPr>
          <a:xfrm>
            <a:off x="228600" y="2743200"/>
            <a:ext cx="2834640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8346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834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</a:rPr>
              <a:t>AI-Assisted Feature Eng.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310128"/>
            <a:ext cx="2624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E6FF"/>
                </a:solidFill>
              </a:rPr>
              <a:t>LLMs suggest, generate, and explain new feature transformations from raw data context and domain descriptions.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743200"/>
            <a:ext cx="2834640" cy="1600200"/>
          </a:xfrm>
          <a:prstGeom prst="rect">
            <a:avLst>
              <a:gd name="adj" fmla="val 5714"/>
            </a:avLst>
          </a:prstGeom>
          <a:solidFill>
            <a:srgbClr val="221040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2743200"/>
            <a:ext cx="2834640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28346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794760" y="2834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</a:rPr>
              <a:t>Natural Language to SQL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310128"/>
            <a:ext cx="2624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E6FF"/>
                </a:solidFill>
              </a:rPr>
              <a:t>Text-to-SQL models (e.g. GPT-4, Gemini) let analysts query databases in plain English without writing code.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2743200"/>
            <a:ext cx="2834640" cy="1600200"/>
          </a:xfrm>
          <a:prstGeom prst="rect">
            <a:avLst>
              <a:gd name="adj" fmla="val 5714"/>
            </a:avLst>
          </a:prstGeom>
          <a:solidFill>
            <a:srgbClr val="221040"/>
          </a:solidFill>
          <a:ln/>
        </p:spPr>
      </p:sp>
      <p:sp>
        <p:nvSpPr>
          <p:cNvPr id="30" name="Shape 28"/>
          <p:cNvSpPr/>
          <p:nvPr/>
        </p:nvSpPr>
        <p:spPr>
          <a:xfrm>
            <a:off x="6172200" y="2743200"/>
            <a:ext cx="2834640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28346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🔮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766560" y="2834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</a:rPr>
              <a:t>GenAI for Forecasting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3310128"/>
            <a:ext cx="2624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E6FF"/>
                </a:solidFill>
              </a:rPr>
              <a:t>Time-series foundation models (e.g. TimesFM, Lag-Llama) provide zero-shot forecasting across domains.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20820"/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90B8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A090B8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F5C84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0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Industry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48640"/>
          </a:xfrm>
          <a:prstGeom prst="rect">
            <a:avLst>
              <a:gd name="adj" fmla="val 13333"/>
            </a:avLst>
          </a:prstGeom>
          <a:solidFill>
            <a:srgbClr val="22104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73152" cy="54864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96926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</a:rPr>
              <a:t>Media &amp; Entertainment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216152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FF"/>
                </a:solidFill>
              </a:rPr>
              <a:t>AI-generated scripts, music, VFX, and personalised content recommendation at Netflix-scale.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536192"/>
            <a:ext cx="8595360" cy="548640"/>
          </a:xfrm>
          <a:prstGeom prst="rect">
            <a:avLst>
              <a:gd name="adj" fmla="val 13333"/>
            </a:avLst>
          </a:prstGeom>
          <a:solidFill>
            <a:srgbClr val="221040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536192"/>
            <a:ext cx="73152" cy="548640"/>
          </a:xfrm>
          <a:prstGeom prst="rect">
            <a:avLst/>
          </a:prstGeom>
          <a:solidFill>
            <a:srgbClr val="C2596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53619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159105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596A"/>
                </a:solidFill>
              </a:rPr>
              <a:t>Financial Services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1837944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FF"/>
                </a:solidFill>
              </a:rPr>
              <a:t>Synthetic financial data for stress testing, fraud scenario generation, and automated analyst reports.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157984"/>
            <a:ext cx="8595360" cy="548640"/>
          </a:xfrm>
          <a:prstGeom prst="rect">
            <a:avLst>
              <a:gd name="adj" fmla="val 13333"/>
            </a:avLst>
          </a:prstGeom>
          <a:solidFill>
            <a:srgbClr val="221040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157984"/>
            <a:ext cx="73152" cy="54864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15798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221284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</a:rPr>
              <a:t>Retail &amp; Marketing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459736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FF"/>
                </a:solidFill>
              </a:rPr>
              <a:t>Personalised ad copy, product descriptions at scale, and AI-generated campaign visuals.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779776"/>
            <a:ext cx="8595360" cy="548640"/>
          </a:xfrm>
          <a:prstGeom prst="rect">
            <a:avLst>
              <a:gd name="adj" fmla="val 13333"/>
            </a:avLst>
          </a:prstGeom>
          <a:solidFill>
            <a:srgbClr val="221040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2779776"/>
            <a:ext cx="73152" cy="548640"/>
          </a:xfrm>
          <a:prstGeom prst="rect">
            <a:avLst/>
          </a:prstGeom>
          <a:solidFill>
            <a:srgbClr val="C2596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77977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283464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596A"/>
                </a:solidFill>
              </a:rPr>
              <a:t>Software Engineering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308152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FF"/>
                </a:solidFill>
              </a:rPr>
              <a:t>GitHub Copilot and Cursor reduce code-writing time by up to 55% — GenAI in every dev's toolkit.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401568"/>
            <a:ext cx="8595360" cy="548640"/>
          </a:xfrm>
          <a:prstGeom prst="rect">
            <a:avLst>
              <a:gd name="adj" fmla="val 13333"/>
            </a:avLst>
          </a:prstGeom>
          <a:solidFill>
            <a:srgbClr val="221040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3401568"/>
            <a:ext cx="73152" cy="54864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40156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8680" y="345643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</a:rPr>
              <a:t>Legal &amp; Compliance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3703320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FF"/>
                </a:solidFill>
              </a:rPr>
              <a:t>Contract summarisation, clause generation, and regulatory document analysis with LLMs.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023360"/>
            <a:ext cx="8595360" cy="548640"/>
          </a:xfrm>
          <a:prstGeom prst="rect">
            <a:avLst>
              <a:gd name="adj" fmla="val 13333"/>
            </a:avLst>
          </a:prstGeom>
          <a:solidFill>
            <a:srgbClr val="221040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" y="4023360"/>
            <a:ext cx="73152" cy="548640"/>
          </a:xfrm>
          <a:prstGeom prst="rect">
            <a:avLst/>
          </a:prstGeom>
          <a:solidFill>
            <a:srgbClr val="C2596A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4023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68680" y="407822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596A"/>
                </a:solidFill>
              </a:rPr>
              <a:t>Education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68680" y="4325112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FF"/>
                </a:solidFill>
              </a:rPr>
              <a:t>Personalised lesson generation, automated grading, AI tutors, and synthetic practice datasets.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20820"/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90B8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A090B8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F5C84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0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Risks &amp; Responsible GenAI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4160520" cy="1051560"/>
          </a:xfrm>
          <a:prstGeom prst="rect">
            <a:avLst>
              <a:gd name="adj" fmla="val 6957"/>
            </a:avLst>
          </a:prstGeom>
          <a:solidFill>
            <a:srgbClr val="22104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32688"/>
            <a:ext cx="73152" cy="1051560"/>
          </a:xfrm>
          <a:prstGeom prst="rect">
            <a:avLst/>
          </a:prstGeom>
          <a:solidFill>
            <a:srgbClr val="9B2335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241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🎭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96112" y="10241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FA3"/>
                </a:solidFill>
              </a:rPr>
              <a:t>Deepfakes &amp; Misinformation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140817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E6FF"/>
                </a:solidFill>
              </a:rPr>
              <a:t>Hyper-realistic synthetic media threatens trust, election integrity, and personal reputation globally.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32688"/>
            <a:ext cx="4160520" cy="1051560"/>
          </a:xfrm>
          <a:prstGeom prst="rect">
            <a:avLst>
              <a:gd name="adj" fmla="val 6957"/>
            </a:avLst>
          </a:prstGeom>
          <a:solidFill>
            <a:srgbClr val="221040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932688"/>
            <a:ext cx="73152" cy="1051560"/>
          </a:xfrm>
          <a:prstGeom prst="rect">
            <a:avLst/>
          </a:prstGeom>
          <a:solidFill>
            <a:srgbClr val="9B2335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0241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📜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76672" y="10241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FA3"/>
                </a:solidFill>
              </a:rPr>
              <a:t>Copyright &amp; IP Disputes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92040" y="140817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E6FF"/>
                </a:solidFill>
              </a:rPr>
              <a:t>Models trained on copyrighted data raise unresolved legal questions about ownership of AI-generated outputs.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121408"/>
            <a:ext cx="4160520" cy="1051560"/>
          </a:xfrm>
          <a:prstGeom prst="rect">
            <a:avLst>
              <a:gd name="adj" fmla="val 6957"/>
            </a:avLst>
          </a:prstGeom>
          <a:solidFill>
            <a:srgbClr val="221040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121408"/>
            <a:ext cx="73152" cy="1051560"/>
          </a:xfrm>
          <a:prstGeom prst="rect">
            <a:avLst/>
          </a:prstGeom>
          <a:solidFill>
            <a:srgbClr val="9B2335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128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🌡️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96112" y="22128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FA3"/>
                </a:solidFill>
              </a:rPr>
              <a:t>Environmental Cost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1480" y="259689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E6FF"/>
                </a:solidFill>
              </a:rPr>
              <a:t>Training a large LLM can emit CO₂ equivalent to hundreds of transatlantic flights — sustainability is urgent.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121408"/>
            <a:ext cx="4160520" cy="1051560"/>
          </a:xfrm>
          <a:prstGeom prst="rect">
            <a:avLst>
              <a:gd name="adj" fmla="val 6957"/>
            </a:avLst>
          </a:prstGeom>
          <a:solidFill>
            <a:srgbClr val="221040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2121408"/>
            <a:ext cx="73152" cy="1051560"/>
          </a:xfrm>
          <a:prstGeom prst="rect">
            <a:avLst/>
          </a:prstGeom>
          <a:solidFill>
            <a:srgbClr val="9B2335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2128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76672" y="22128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FA3"/>
                </a:solidFill>
              </a:rPr>
              <a:t>Hallucination &amp; Reliability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92040" y="259689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E6FF"/>
                </a:solidFill>
              </a:rPr>
              <a:t>GenAI models confidently produce plausible but factually incorrect outputs — a critical risk in high-stakes domains.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310128"/>
            <a:ext cx="4160520" cy="1051560"/>
          </a:xfrm>
          <a:prstGeom prst="rect">
            <a:avLst>
              <a:gd name="adj" fmla="val 6957"/>
            </a:avLst>
          </a:prstGeom>
          <a:solidFill>
            <a:srgbClr val="221040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3310128"/>
            <a:ext cx="73152" cy="1051560"/>
          </a:xfrm>
          <a:prstGeom prst="rect">
            <a:avLst/>
          </a:prstGeom>
          <a:solidFill>
            <a:srgbClr val="9B2335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4015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96112" y="34015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FA3"/>
                </a:solidFill>
              </a:rPr>
              <a:t>Data Poisoning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11480" y="378561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E6FF"/>
                </a:solidFill>
              </a:rPr>
              <a:t>Adversarial manipulation of training data can embed subtle biases or backdoors into deployed models.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310128"/>
            <a:ext cx="4160520" cy="1051560"/>
          </a:xfrm>
          <a:prstGeom prst="rect">
            <a:avLst>
              <a:gd name="adj" fmla="val 6957"/>
            </a:avLst>
          </a:prstGeom>
          <a:solidFill>
            <a:srgbClr val="221040"/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3310128"/>
            <a:ext cx="73152" cy="1051560"/>
          </a:xfrm>
          <a:prstGeom prst="rect">
            <a:avLst/>
          </a:prstGeom>
          <a:solidFill>
            <a:srgbClr val="9B2335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4015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76672" y="34015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FA3"/>
                </a:solidFill>
              </a:rPr>
              <a:t>Job Displacement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892040" y="378561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E6FF"/>
                </a:solidFill>
              </a:rPr>
              <a:t>Creative, analytical, and knowledge roles face disruption — requiring workforce reskilling at unprecedented pace.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20820"/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90B8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A090B8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F5C84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0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Trends in GenAI &amp; Data Science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1005840" cy="868680"/>
          </a:xfrm>
          <a:prstGeom prst="rect">
            <a:avLst>
              <a:gd name="adj" fmla="val 8421"/>
            </a:avLst>
          </a:prstGeom>
          <a:solidFill>
            <a:srgbClr val="F5C84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87552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0820"/>
                </a:solidFill>
              </a:rPr>
              <a:t>2025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80160" y="1389888"/>
            <a:ext cx="274320" cy="457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987552"/>
            <a:ext cx="7269480" cy="868680"/>
          </a:xfrm>
          <a:prstGeom prst="rect">
            <a:avLst>
              <a:gd name="adj" fmla="val 8421"/>
            </a:avLst>
          </a:prstGeom>
          <a:solidFill>
            <a:srgbClr val="221040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987552"/>
            <a:ext cx="73152" cy="8686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1042416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</a:rPr>
              <a:t>🚀  Multimodal GenAI Goes Mainstream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37360" y="1380744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FF"/>
                </a:solidFill>
              </a:rPr>
              <a:t>Unified text-image-audio-video generation becomes standard in enterprise platforms and creative tools.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130552"/>
            <a:ext cx="1005840" cy="868680"/>
          </a:xfrm>
          <a:prstGeom prst="rect">
            <a:avLst>
              <a:gd name="adj" fmla="val 8421"/>
            </a:avLst>
          </a:prstGeom>
          <a:solidFill>
            <a:srgbClr val="F5C842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130552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0820"/>
                </a:solidFill>
              </a:rPr>
              <a:t>2026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280160" y="2532888"/>
            <a:ext cx="274320" cy="457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4" name="Shape 12"/>
          <p:cNvSpPr/>
          <p:nvPr/>
        </p:nvSpPr>
        <p:spPr>
          <a:xfrm>
            <a:off x="1554480" y="2130552"/>
            <a:ext cx="7269480" cy="868680"/>
          </a:xfrm>
          <a:prstGeom prst="rect">
            <a:avLst>
              <a:gd name="adj" fmla="val 8421"/>
            </a:avLst>
          </a:prstGeom>
          <a:solidFill>
            <a:srgbClr val="221040"/>
          </a:solidFill>
          <a:ln/>
        </p:spPr>
      </p:sp>
      <p:sp>
        <p:nvSpPr>
          <p:cNvPr id="15" name="Shape 13"/>
          <p:cNvSpPr/>
          <p:nvPr/>
        </p:nvSpPr>
        <p:spPr>
          <a:xfrm>
            <a:off x="1554480" y="2130552"/>
            <a:ext cx="73152" cy="8686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1737360" y="2185416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</a:rPr>
              <a:t>📡  AI Data Scientists Become Autonomous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37360" y="2523744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FF"/>
                </a:solidFill>
              </a:rPr>
              <a:t>End-to-end AutoML + GenAI pipelines handle data ingestion, analysis, modelling, and deployment with minimal human input.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273552"/>
            <a:ext cx="1005840" cy="868680"/>
          </a:xfrm>
          <a:prstGeom prst="rect">
            <a:avLst>
              <a:gd name="adj" fmla="val 8421"/>
            </a:avLst>
          </a:prstGeom>
          <a:solidFill>
            <a:srgbClr val="F5C842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273552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0820"/>
                </a:solidFill>
              </a:rPr>
              <a:t>2028+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80160" y="3675888"/>
            <a:ext cx="274320" cy="457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1" name="Shape 19"/>
          <p:cNvSpPr/>
          <p:nvPr/>
        </p:nvSpPr>
        <p:spPr>
          <a:xfrm>
            <a:off x="1554480" y="3273552"/>
            <a:ext cx="7269480" cy="868680"/>
          </a:xfrm>
          <a:prstGeom prst="rect">
            <a:avLst>
              <a:gd name="adj" fmla="val 8421"/>
            </a:avLst>
          </a:prstGeom>
          <a:solidFill>
            <a:srgbClr val="221040"/>
          </a:solidFill>
          <a:ln/>
        </p:spPr>
      </p:sp>
      <p:sp>
        <p:nvSpPr>
          <p:cNvPr id="22" name="Shape 20"/>
          <p:cNvSpPr/>
          <p:nvPr/>
        </p:nvSpPr>
        <p:spPr>
          <a:xfrm>
            <a:off x="1554480" y="3273552"/>
            <a:ext cx="73152" cy="8686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3" name="Text 21"/>
          <p:cNvSpPr/>
          <p:nvPr/>
        </p:nvSpPr>
        <p:spPr>
          <a:xfrm>
            <a:off x="1737360" y="3328416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</a:rPr>
              <a:t>🌐  World Foundation Models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37360" y="3666744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FF"/>
                </a:solidFill>
              </a:rPr>
              <a:t>Models trained on multimodal world data simulate physical reality — powering robotics, scientific discovery, and AGI research.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343400"/>
            <a:ext cx="8595360" cy="274320"/>
          </a:xfrm>
          <a:prstGeom prst="rect">
            <a:avLst>
              <a:gd name="adj" fmla="val 20000"/>
            </a:avLst>
          </a:prstGeom>
          <a:solidFill>
            <a:srgbClr val="6D2E46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3434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8E7"/>
                </a:solidFill>
              </a:rPr>
              <a:t>"Generative AI is not just a new tool — it is a new medium for human thought and creativity."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20820"/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90B8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A090B8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F5C84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 &amp; Data Science: The Creative Intelligence Revolution</dc:title>
  <dc:subject>PptxGenJS Presentation</dc:subject>
  <dc:creator>PptxGenJS</dc:creator>
  <cp:lastModifiedBy>PptxGenJS</cp:lastModifiedBy>
  <cp:revision>1</cp:revision>
  <dcterms:created xsi:type="dcterms:W3CDTF">2026-03-30T06:51:16Z</dcterms:created>
  <dcterms:modified xsi:type="dcterms:W3CDTF">2026-03-30T06:51:16Z</dcterms:modified>
</cp:coreProperties>
</file>