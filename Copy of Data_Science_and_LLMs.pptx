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1371600"/>
            <a:ext cx="2331720" cy="2560320"/>
          </a:xfrm>
          <a:prstGeom prst="rect">
            <a:avLst>
              <a:gd name="adj" fmla="val 4706"/>
            </a:avLst>
          </a:prstGeom>
          <a:solidFill>
            <a:srgbClr val="121C30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1371600"/>
            <a:ext cx="2331720" cy="6400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53619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175T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0" y="19202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Training tokens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231343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1.8T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GPT-4 parameters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309067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100+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0" y="347472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LLMs in 2025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</a:rPr>
              <a:t>2025 TRENDING TOPIC IN DATA SCIENCE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658368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11480" y="1371600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11480" y="2103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B82F6"/>
                </a:solidFill>
              </a:rPr>
              <a:t>The Architecture Behind AI's Brain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11480" y="2670048"/>
            <a:ext cx="4114800" cy="36576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816352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4748B"/>
                </a:solidFill>
              </a:rPr>
              <a:t>How transformers, embeddings, attention, and data pipelines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4748B"/>
                </a:solidFill>
              </a:rPr>
              <a:t>power the world's most capable AI language systems.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11480" y="3858768"/>
            <a:ext cx="1938528" cy="420624"/>
          </a:xfrm>
          <a:prstGeom prst="rect">
            <a:avLst>
              <a:gd name="adj" fmla="val 15217"/>
            </a:avLst>
          </a:prstGeom>
          <a:solidFill>
            <a:srgbClr val="121C3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5876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🧠 Transformers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96312" y="3858768"/>
            <a:ext cx="1938528" cy="420624"/>
          </a:xfrm>
          <a:prstGeom prst="rect">
            <a:avLst>
              <a:gd name="adj" fmla="val 15217"/>
            </a:avLst>
          </a:prstGeom>
          <a:solidFill>
            <a:srgbClr val="121C3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385876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📐 Embeddings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81144" y="3858768"/>
            <a:ext cx="1938528" cy="420624"/>
          </a:xfrm>
          <a:prstGeom prst="rect">
            <a:avLst>
              <a:gd name="adj" fmla="val 15217"/>
            </a:avLst>
          </a:prstGeom>
          <a:solidFill>
            <a:srgbClr val="121C3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385876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🔍 Attention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65976" y="3858768"/>
            <a:ext cx="1938528" cy="420624"/>
          </a:xfrm>
          <a:prstGeom prst="rect">
            <a:avLst>
              <a:gd name="adj" fmla="val 15217"/>
            </a:avLst>
          </a:prstGeom>
          <a:solidFill>
            <a:srgbClr val="121C3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385876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📊 Data Pipelines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C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60A5F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Large Language Model?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60120"/>
          </a:xfrm>
          <a:prstGeom prst="rect">
            <a:avLst>
              <a:gd name="adj" fmla="val 9524"/>
            </a:avLst>
          </a:prstGeom>
          <a:solidFill>
            <a:srgbClr val="121C3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91440" cy="9601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96112"/>
            <a:ext cx="8183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BEAFE"/>
                </a:solidFill>
              </a:rPr>
              <a:t>A Large Language Model is a deep neural network — typically a transformer — trained on trillions of tokens of text to predict the next token in a sequence. Through this simple objective at massive scale, LLMs acquire emergent capabilities in reasoning, code generation, translation, summarisation, and complex instruction following.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60520" cy="2542032"/>
          </a:xfrm>
          <a:prstGeom prst="rect">
            <a:avLst>
              <a:gd name="adj" fmla="val 3597"/>
            </a:avLst>
          </a:prstGeom>
          <a:solidFill>
            <a:srgbClr val="121C3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965960"/>
            <a:ext cx="82296" cy="2542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20848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084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Scale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395728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Billions to trillions of parameters trained on internet-scale text corpora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8895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8895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Emergent Abilities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3200400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Capabilities not explicitly trained for — arithmetic, code, chain-of-thought reasoning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36941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36941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In-Context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400507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Adapt to new tasks from a few examples in the prompt — no gradient updates needed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965960"/>
            <a:ext cx="4160520" cy="2542032"/>
          </a:xfrm>
          <a:prstGeom prst="rect">
            <a:avLst>
              <a:gd name="adj" fmla="val 3597"/>
            </a:avLst>
          </a:prstGeom>
          <a:solidFill>
            <a:srgbClr val="121C30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1965960"/>
            <a:ext cx="82296" cy="2542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752" y="20848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0" y="2084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Tokenisation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2395728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Text is split into sub-word tokens; vocabulary sizes typically 50K–200K tokens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28895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03520" y="28895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Multilingual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752" y="3200400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Modern LLMs understand and generate 100+ languages from a single unified model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3752" y="36941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36941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Fine-Tuneable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400507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Base models can be specialised for domains (law, medicine, code) with far less data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C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60A5F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658368"/>
          </a:xfrm>
          <a:prstGeom prst="rect">
            <a:avLst>
              <a:gd name="adj" fmla="val 9722"/>
            </a:avLst>
          </a:prstGeom>
          <a:solidFill>
            <a:srgbClr val="121C3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96112"/>
            <a:ext cx="73152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896112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950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Tokenisation &amp; Embedding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225296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BEAFE"/>
                </a:solidFill>
              </a:rPr>
              <a:t>Raw text is split into tokens, then mapped to dense high-dimensional vectors (e.g. 4096-dim) capturing semantic meaning.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8595360" cy="658368"/>
          </a:xfrm>
          <a:prstGeom prst="rect">
            <a:avLst>
              <a:gd name="adj" fmla="val 9722"/>
            </a:avLst>
          </a:prstGeom>
          <a:solidFill>
            <a:srgbClr val="121C3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645920"/>
            <a:ext cx="73152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" y="1645920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6112" y="1700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Positional Encoding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1975104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BEAFE"/>
                </a:solidFill>
              </a:rPr>
              <a:t>Sinusoidal or learned position signals are added to embeddings so the model knows the order of tokens in the sequence.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395728"/>
            <a:ext cx="8595360" cy="658368"/>
          </a:xfrm>
          <a:prstGeom prst="rect">
            <a:avLst>
              <a:gd name="adj" fmla="val 9722"/>
            </a:avLst>
          </a:prstGeom>
          <a:solidFill>
            <a:srgbClr val="121C3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395728"/>
            <a:ext cx="73152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2395728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" y="2450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Multi-Head Self-Attention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2724912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BEAFE"/>
                </a:solidFill>
              </a:rPr>
              <a:t>Each token attends to every other token simultaneously across multiple attention heads — the core mechanism of transformers.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8595360" cy="658368"/>
          </a:xfrm>
          <a:prstGeom prst="rect">
            <a:avLst>
              <a:gd name="adj" fmla="val 9722"/>
            </a:avLst>
          </a:prstGeom>
          <a:solidFill>
            <a:srgbClr val="121C3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145536"/>
            <a:ext cx="73152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" y="3145536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6112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Feed-Forward Network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3474720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BEAFE"/>
                </a:solidFill>
              </a:rPr>
              <a:t>A two-layer MLP applied independently at each position — applies learned non-linear transformations to attended representations.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895344"/>
            <a:ext cx="8595360" cy="658368"/>
          </a:xfrm>
          <a:prstGeom prst="rect">
            <a:avLst>
              <a:gd name="adj" fmla="val 9722"/>
            </a:avLst>
          </a:prstGeom>
          <a:solidFill>
            <a:srgbClr val="121C30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895344"/>
            <a:ext cx="73152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" y="3895344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96112" y="3950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Layer Normalisation &amp; Residuals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6112" y="4224528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BEAFE"/>
                </a:solidFill>
              </a:rPr>
              <a:t>Skip connections and LayerNorm stabilise training across hundreds of layers in deep transformer stacks.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4572000"/>
            <a:ext cx="859536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C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60A5F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Training: A Data Science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1060704"/>
          </a:xfrm>
          <a:prstGeom prst="rect">
            <a:avLst>
              <a:gd name="adj" fmla="val 6897"/>
            </a:avLst>
          </a:prstGeom>
          <a:solidFill>
            <a:srgbClr val="121C3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32688"/>
            <a:ext cx="82296" cy="106070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024128"/>
            <a:ext cx="548640" cy="274320"/>
          </a:xfrm>
          <a:prstGeom prst="rect">
            <a:avLst>
              <a:gd name="adj" fmla="val 13333"/>
            </a:avLst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0241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Collection &amp; Curation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" y="140817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Web crawls (CommonCrawl), books, code, scientific papers. Trillions of tokens — quality filtering is critical.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32688"/>
            <a:ext cx="4160520" cy="1060704"/>
          </a:xfrm>
          <a:prstGeom prst="rect">
            <a:avLst>
              <a:gd name="adj" fmla="val 6897"/>
            </a:avLst>
          </a:prstGeom>
          <a:solidFill>
            <a:srgbClr val="121C30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932688"/>
            <a:ext cx="82296" cy="10607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9472" y="1024128"/>
            <a:ext cx="548640" cy="274320"/>
          </a:xfrm>
          <a:prstGeom prst="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10241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Tokenisation &amp; Preprocessing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9472" y="140817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BPE or SentencePiece tokenisation, deduplication, PII removal, language balancing, and data mixing ratios.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21408"/>
            <a:ext cx="4160520" cy="1060704"/>
          </a:xfrm>
          <a:prstGeom prst="rect">
            <a:avLst>
              <a:gd name="adj" fmla="val 6897"/>
            </a:avLst>
          </a:prstGeom>
          <a:solidFill>
            <a:srgbClr val="121C3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121408"/>
            <a:ext cx="82296" cy="106070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" y="2212848"/>
            <a:ext cx="548640" cy="274320"/>
          </a:xfrm>
          <a:prstGeom prst="rect">
            <a:avLst>
              <a:gd name="adj" fmla="val 13333"/>
            </a:avLst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2128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Pre-training (Next-Token Prediction)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8912" y="259689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Autoregressive training on masked/next-token prediction across thousands of GPUs for weeks using AdamW.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21408"/>
            <a:ext cx="4160520" cy="1060704"/>
          </a:xfrm>
          <a:prstGeom prst="rect">
            <a:avLst>
              <a:gd name="adj" fmla="val 6897"/>
            </a:avLst>
          </a:prstGeom>
          <a:solidFill>
            <a:srgbClr val="121C30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121408"/>
            <a:ext cx="82296" cy="106070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9472" y="2212848"/>
            <a:ext cx="548640" cy="274320"/>
          </a:xfrm>
          <a:prstGeom prst="rect">
            <a:avLst>
              <a:gd name="adj" fmla="val 13333"/>
            </a:avLst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2128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Instruction Fine-Tuning (SFT)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9472" y="259689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Supervised fine-tuning on curated instruction-response pairs to teach the model to follow human instructions.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10128"/>
            <a:ext cx="4160520" cy="1060704"/>
          </a:xfrm>
          <a:prstGeom prst="rect">
            <a:avLst>
              <a:gd name="adj" fmla="val 6897"/>
            </a:avLst>
          </a:prstGeom>
          <a:solidFill>
            <a:srgbClr val="121C30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310128"/>
            <a:ext cx="82296" cy="106070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" y="3401568"/>
            <a:ext cx="548640" cy="274320"/>
          </a:xfrm>
          <a:prstGeom prst="rect">
            <a:avLst>
              <a:gd name="adj" fmla="val 13333"/>
            </a:avLst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3401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34015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RLHF / DPO Alignment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38912" y="378561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Reward modelling + PPO or Direct Preference Optimisation aligns outputs with human values and preferences.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310128"/>
            <a:ext cx="4160520" cy="1060704"/>
          </a:xfrm>
          <a:prstGeom prst="rect">
            <a:avLst>
              <a:gd name="adj" fmla="val 6897"/>
            </a:avLst>
          </a:prstGeom>
          <a:solidFill>
            <a:srgbClr val="121C30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310128"/>
            <a:ext cx="82296" cy="106070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6" name="Shape 34"/>
          <p:cNvSpPr/>
          <p:nvPr/>
        </p:nvSpPr>
        <p:spPr>
          <a:xfrm>
            <a:off x="4919472" y="3401568"/>
            <a:ext cx="548640" cy="274320"/>
          </a:xfrm>
          <a:prstGeom prst="rect">
            <a:avLst>
              <a:gd name="adj" fmla="val 13333"/>
            </a:avLst>
          </a:prstGeom>
          <a:solidFill>
            <a:srgbClr val="F87171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3401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34015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Evaluation &amp; Red-Teaming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919472" y="378561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Benchmarks (MMLU, HumanEval, HellaSwag) + adversarial probing for safety, bias, and capability assessment.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C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60A5F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Landscape: Landmark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32688"/>
            <a:ext cx="82296" cy="10789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3520440" y="1024128"/>
            <a:ext cx="804672" cy="256032"/>
          </a:xfrm>
          <a:prstGeom prst="rect">
            <a:avLst>
              <a:gd name="adj" fmla="val 17857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0241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C14"/>
                </a:solidFill>
              </a:rPr>
              <a:t>~1T (est.)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GPT-4o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2984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by OpenAI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Strengths: Multimodal reasoning, coding, instruction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32688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932688"/>
            <a:ext cx="82296" cy="107899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1000" y="1024128"/>
            <a:ext cx="804672" cy="256032"/>
          </a:xfrm>
          <a:prstGeom prst="rect">
            <a:avLst>
              <a:gd name="adj" fmla="val 17857"/>
            </a:avLst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10241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C14"/>
                </a:solidFill>
              </a:rPr>
              <a:t>~200B (est.)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56048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Claude 3.5 Sonnet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12984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by Anthropic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6048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Strengths: Long context, safety, analysis, writing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139696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139696"/>
            <a:ext cx="82296" cy="10789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20440" y="2231136"/>
            <a:ext cx="804672" cy="256032"/>
          </a:xfrm>
          <a:prstGeom prst="rect">
            <a:avLst>
              <a:gd name="adj" fmla="val 17857"/>
            </a:avLst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2311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C14"/>
                </a:solidFill>
              </a:rPr>
              <a:t>~1T (est.)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" y="22311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Gemini Ultra 1.5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" y="25054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by Google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" y="2761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Strengths: 1M token context, multimodal, search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139696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139696"/>
            <a:ext cx="82296" cy="107899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7" name="Shape 25"/>
          <p:cNvSpPr/>
          <p:nvPr/>
        </p:nvSpPr>
        <p:spPr>
          <a:xfrm>
            <a:off x="8001000" y="2231136"/>
            <a:ext cx="804672" cy="256032"/>
          </a:xfrm>
          <a:prstGeom prst="rect">
            <a:avLst>
              <a:gd name="adj" fmla="val 17857"/>
            </a:avLst>
          </a:prstGeom>
          <a:solidFill>
            <a:srgbClr val="818CF8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22311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C14"/>
                </a:solidFill>
              </a:rPr>
              <a:t>70B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56048" y="22311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LLaMA 3 70B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56048" y="25054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by Meta (Open)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56048" y="2761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Strengths: Best open-source; fine-tunable on any 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346704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3346704"/>
            <a:ext cx="82296" cy="10789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Shape 32"/>
          <p:cNvSpPr/>
          <p:nvPr/>
        </p:nvSpPr>
        <p:spPr>
          <a:xfrm>
            <a:off x="3520440" y="3438144"/>
            <a:ext cx="804672" cy="256032"/>
          </a:xfrm>
          <a:prstGeom prst="rect">
            <a:avLst>
              <a:gd name="adj" fmla="val 17857"/>
            </a:avLst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34381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C14"/>
                </a:solidFill>
              </a:rPr>
              <a:t>123B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" y="34381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Mistral Large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5488" y="37124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by Mistral AI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" y="39684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Strengths: European open model; strong multilingual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346704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40" name="Shape 38"/>
          <p:cNvSpPr/>
          <p:nvPr/>
        </p:nvSpPr>
        <p:spPr>
          <a:xfrm>
            <a:off x="4754880" y="3346704"/>
            <a:ext cx="82296" cy="107899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1" name="Shape 39"/>
          <p:cNvSpPr/>
          <p:nvPr/>
        </p:nvSpPr>
        <p:spPr>
          <a:xfrm>
            <a:off x="8001000" y="3438144"/>
            <a:ext cx="804672" cy="256032"/>
          </a:xfrm>
          <a:prstGeom prst="rect">
            <a:avLst>
              <a:gd name="adj" fmla="val 17857"/>
            </a:avLst>
          </a:prstGeom>
          <a:solidFill>
            <a:srgbClr val="F87171"/>
          </a:solidFill>
          <a:ln/>
        </p:spPr>
      </p:sp>
      <p:sp>
        <p:nvSpPr>
          <p:cNvPr id="42" name="Text 40"/>
          <p:cNvSpPr/>
          <p:nvPr/>
        </p:nvSpPr>
        <p:spPr>
          <a:xfrm>
            <a:off x="8001000" y="34381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C14"/>
                </a:solidFill>
              </a:rPr>
              <a:t>671B (MoE)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56048" y="34381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DeepSeek-V3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956048" y="37124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by DeepSeek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56048" y="39684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Strengths: Mixture-of-experts; cost-efficient reasoning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C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60A5F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Transforming the Data Science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19456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Workflow Stage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896112"/>
            <a:ext cx="283464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896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Before LLMs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896112"/>
            <a:ext cx="347472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8961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After LLMs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25296"/>
            <a:ext cx="2194560" cy="530352"/>
          </a:xfrm>
          <a:prstGeom prst="rect">
            <a:avLst/>
          </a:prstGeom>
          <a:solidFill>
            <a:srgbClr val="0F1E38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252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</a:rPr>
              <a:t>🔍  Data Exploration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0" y="1225296"/>
            <a:ext cx="2834640" cy="530352"/>
          </a:xfrm>
          <a:prstGeom prst="rect">
            <a:avLst/>
          </a:prstGeom>
          <a:solidFill>
            <a:srgbClr val="0F1E38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225296"/>
            <a:ext cx="283464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Manual EDA scripts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225296"/>
            <a:ext cx="3474720" cy="530352"/>
          </a:xfrm>
          <a:prstGeom prst="rect">
            <a:avLst/>
          </a:prstGeom>
          <a:solidFill>
            <a:srgbClr val="0F1E38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2252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</a:rPr>
              <a:t>"Describe this dataset and flag anomalies" → instant narrative + charts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2194560" cy="530352"/>
          </a:xfrm>
          <a:prstGeom prst="rect">
            <a:avLst/>
          </a:prstGeom>
          <a:solidFill>
            <a:srgbClr val="0C183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7922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</a:rPr>
              <a:t>🧹  Data Cleaning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0" y="1792224"/>
            <a:ext cx="2834640" cy="530352"/>
          </a:xfrm>
          <a:prstGeom prst="rect">
            <a:avLst/>
          </a:prstGeom>
          <a:solidFill>
            <a:srgbClr val="0C183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792224"/>
            <a:ext cx="283464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Rule-based cleaning code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792224"/>
            <a:ext cx="3474720" cy="530352"/>
          </a:xfrm>
          <a:prstGeom prst="rect">
            <a:avLst/>
          </a:prstGeom>
          <a:solidFill>
            <a:srgbClr val="0C183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7922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</a:rPr>
              <a:t>LLM generates context-aware cleaning pipelines from column descriptions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359152"/>
            <a:ext cx="2194560" cy="530352"/>
          </a:xfrm>
          <a:prstGeom prst="rect">
            <a:avLst/>
          </a:prstGeom>
          <a:solidFill>
            <a:srgbClr val="0F1E38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3591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</a:rPr>
              <a:t>🔧  Feature Engineering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60320" y="2359152"/>
            <a:ext cx="2834640" cy="530352"/>
          </a:xfrm>
          <a:prstGeom prst="rect">
            <a:avLst/>
          </a:prstGeom>
          <a:solidFill>
            <a:srgbClr val="0F1E38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3591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Domain expert intuition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2359152"/>
            <a:ext cx="3474720" cy="530352"/>
          </a:xfrm>
          <a:prstGeom prst="rect">
            <a:avLst/>
          </a:prstGeom>
          <a:solidFill>
            <a:srgbClr val="0F1E38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3591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</a:rPr>
              <a:t>LLM suggests, names, and generates features from schema and task description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2194560" cy="530352"/>
          </a:xfrm>
          <a:prstGeom prst="rect">
            <a:avLst/>
          </a:prstGeom>
          <a:solidFill>
            <a:srgbClr val="0C183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9260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</a:rPr>
              <a:t>📊  Model Selection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560320" y="2926080"/>
            <a:ext cx="2834640" cy="530352"/>
          </a:xfrm>
          <a:prstGeom prst="rect">
            <a:avLst/>
          </a:prstGeom>
          <a:solidFill>
            <a:srgbClr val="0C183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9260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Manual search &amp; benchmarking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2926080"/>
            <a:ext cx="3474720" cy="530352"/>
          </a:xfrm>
          <a:prstGeom prst="rect">
            <a:avLst/>
          </a:prstGeom>
          <a:solidFill>
            <a:srgbClr val="0C183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926080"/>
            <a:ext cx="34747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</a:rPr>
              <a:t>LLM recommends models with rationale based on data shape and task type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493008"/>
            <a:ext cx="2194560" cy="530352"/>
          </a:xfrm>
          <a:prstGeom prst="rect">
            <a:avLst/>
          </a:prstGeom>
          <a:solidFill>
            <a:srgbClr val="0F1E38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4930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</a:rPr>
              <a:t>📝  Report Generation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560320" y="3493008"/>
            <a:ext cx="2834640" cy="530352"/>
          </a:xfrm>
          <a:prstGeom prst="rect">
            <a:avLst/>
          </a:prstGeom>
          <a:solidFill>
            <a:srgbClr val="0F1E38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493008"/>
            <a:ext cx="283464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Manual write-up of findings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0" y="3493008"/>
            <a:ext cx="3474720" cy="530352"/>
          </a:xfrm>
          <a:prstGeom prst="rect">
            <a:avLst/>
          </a:prstGeom>
          <a:solidFill>
            <a:srgbClr val="0F1E38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493008"/>
            <a:ext cx="34747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</a:rPr>
              <a:t>LLM auto-generates executive summaries, slide copy, and insight narratives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059936"/>
            <a:ext cx="2194560" cy="530352"/>
          </a:xfrm>
          <a:prstGeom prst="rect">
            <a:avLst/>
          </a:prstGeom>
          <a:solidFill>
            <a:srgbClr val="0C183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059936"/>
            <a:ext cx="21945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</a:rPr>
              <a:t>🗣️  NL Query Interface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560320" y="4059936"/>
            <a:ext cx="2834640" cy="530352"/>
          </a:xfrm>
          <a:prstGeom prst="rect">
            <a:avLst/>
          </a:prstGeom>
          <a:solidFill>
            <a:srgbClr val="0C183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40599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SQL/Python skills required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0" y="4059936"/>
            <a:ext cx="3474720" cy="530352"/>
          </a:xfrm>
          <a:prstGeom prst="rect">
            <a:avLst/>
          </a:prstGeom>
          <a:solidFill>
            <a:srgbClr val="0C183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40599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</a:rPr>
              <a:t>Natural language to SQL/Pandas code — democratising data access for all roles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C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60A5F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Limitations &amp; Risks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32688"/>
            <a:ext cx="4160520" cy="6400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024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1024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Hallucination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02412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🔴 Critical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2336" y="1408176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LLMs confidently fabricate facts, citations, and statistics. Retrieval-augmented generation (RAG) and grounding are key mitigations.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32688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932688"/>
            <a:ext cx="4160520" cy="6400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12" name="Text 10"/>
          <p:cNvSpPr/>
          <p:nvPr/>
        </p:nvSpPr>
        <p:spPr>
          <a:xfrm>
            <a:off x="4882896" y="1024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76672" y="1024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Context Window Limits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0" y="102412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🟡 Moderate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82896" y="1408176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Despite 1M-token windows, effective long-context reasoning degrades. Models lose track of early content in very long documents.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139696"/>
            <a:ext cx="4160520" cy="6400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22311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6112" y="22311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Training Data Bias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223113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🔴 Critical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" y="2615184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LLMs reflect stereotypes and cultural biases present in internet-scale training data — with inconsistent cross-demographic performance.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39696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139696"/>
            <a:ext cx="4160520" cy="6400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22311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76672" y="22311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Cost &amp; Compute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0" y="223113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🟡 Moderate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82896" y="2615184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GPT-4-class training costs ~$100M. Inference at scale also costs millions monthly — creating significant access inequality.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46704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346704"/>
            <a:ext cx="4160520" cy="6400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" y="343814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96112" y="34381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Data Privacy &amp; Leakage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0" y="343814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🔴 Critical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02336" y="3822192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LLMs memorise and can regurgitate PII from training data. Enterprise deployments require careful data governance and fine-tuning policies.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346704"/>
            <a:ext cx="4160520" cy="1078992"/>
          </a:xfrm>
          <a:prstGeom prst="rect">
            <a:avLst>
              <a:gd name="adj" fmla="val 6780"/>
            </a:avLst>
          </a:prstGeom>
          <a:solidFill>
            <a:srgbClr val="121C30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346704"/>
            <a:ext cx="4160520" cy="6400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6" name="Text 34"/>
          <p:cNvSpPr/>
          <p:nvPr/>
        </p:nvSpPr>
        <p:spPr>
          <a:xfrm>
            <a:off x="4882896" y="343814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🗓️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76672" y="34381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Knowledge Cutoff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80960" y="343814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🟢 Manageable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82896" y="3822192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Static training data creates knowledge staleness. RAG, search-augmentation, and continuous pre-training are active research areas.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C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60A5F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Future: LLMs × Data Science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60520" cy="3730752"/>
          </a:xfrm>
          <a:prstGeom prst="rect">
            <a:avLst>
              <a:gd name="adj" fmla="val 2451"/>
            </a:avLst>
          </a:prstGeom>
          <a:solidFill>
            <a:srgbClr val="121C3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96112"/>
            <a:ext cx="91440" cy="37307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92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Near-Term (2025–2027)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173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4173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Retrieval-Augmented Generation (RAG)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70992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LLMs grounded in live knowledge bases become standard for enterprise AI.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1945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194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Efficient Small LLMs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48716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Phi-3, Gemma, and Mistral 7B class models run on-device — privacy-first deployment.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9718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29718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Mixture of Experts (MoE)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326440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Sparse activation allows trillion-parameter models at fraction of inference compute.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7490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" y="3749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Domain-Specific LLMs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404164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Med-LLM, Code-LLM, Legal-LLM trained on curated domain corpora outperform general models.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896112"/>
            <a:ext cx="4160520" cy="3730752"/>
          </a:xfrm>
          <a:prstGeom prst="rect">
            <a:avLst>
              <a:gd name="adj" fmla="val 2451"/>
            </a:avLst>
          </a:prstGeom>
          <a:solidFill>
            <a:srgbClr val="121C3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896112"/>
            <a:ext cx="91440" cy="37307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9692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Long-Term (2028+)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4173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14173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Continual Learning LLMs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170992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Models that update from new data without full retraining — eliminating knowledge cutoffs.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1945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2194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Human–AI Co-Scientist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48716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LLMs collaborate with data scientists end-to-end on research hypothesis design and validation.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9718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29718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Multimodal Data Science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326440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LLMs process genomics, sensor streams, video, and structured data in unified analytical pipelines.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7490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57800" y="3749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Sovereign AI &amp; 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404164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Nations and enterprises train sovereign LLMs on private data — a new data science infrastructure challenge.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C14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60A5F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&amp; Large Language Models: The Architecture Behind AI's Brain</dc:title>
  <dc:subject>PptxGenJS Presentation</dc:subject>
  <dc:creator>PptxGenJS</dc:creator>
  <cp:lastModifiedBy>PptxGenJS</cp:lastModifiedBy>
  <cp:revision>1</cp:revision>
  <dcterms:created xsi:type="dcterms:W3CDTF">2026-04-01T05:53:21Z</dcterms:created>
  <dcterms:modified xsi:type="dcterms:W3CDTF">2026-04-01T05:53:21Z</dcterms:modified>
</cp:coreProperties>
</file>